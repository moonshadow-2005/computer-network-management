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758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全组第 1 页｜蒋天乐｜计划 60 秒</a:t>
            </a:r>
          </a:p>
          <a:p>
            <a:r>
              <a:t>各位老师、同学好，我们是第二组，计划实现一个部署在课程 DEV 主机上的实验网络管理系统。系统覆盖五项功能：故障管理显示连通性异常、持续告警和恢复；配置管理整理设备、接口、路由及逻辑拓扑；性能管理显示延迟、丢包和吞吐量；计费管理先完成方向流量统计与报表；安全管理提供服务变化和异常流量的风险线索。</a:t>
            </a:r>
          </a:p>
          <a:p>
            <a:r>
              <a:t>我们的目标是把这些结果放入一个统一网页，能够查询当前状态、历史记录以及判断依据。我负责总体架构、公共后端和集成组织，其余成员分别负责业务模块。今天汇报预期效果、方法、分工计划，以及影响实施的几个问题。当前交付是开题方案与样例，完整业务系统将在开题后开发。</a:t>
            </a:r>
          </a:p>
          <a:p>
            <a:endParaRPr/>
          </a:p>
          <a:p>
            <a:r>
              <a:t>依据：课程设计说明.pdf、总体草稿及四人职责。真人排练用时待填写。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全组第 2 页｜蒋天乐｜计划 90 秒</a:t>
            </a:r>
          </a:p>
          <a:p>
            <a:r>
              <a:t>这张图来自课程附件。DEV 位于 192.168.0.100，连接三个子网；第一子网有 .0.1 和 .0.2 两条接入关系，不能据此推断物理设备数量。</a:t>
            </a:r>
          </a:p>
          <a:p>
            <a:r>
              <a:t>路由器提供 SNMP v2c 只读查询，没有 SET 和 TRAP，因此配置管理做发现与快照对比，故障依靠轮询检测。</a:t>
            </a:r>
          </a:p>
          <a:p>
            <a:r>
              <a:t>10 月 2 日我们从 WSL 登录 DEV 和三台内网主机；DEV 到三台各做两包 ping，均收到；一对主机完成两秒限速 iperf3。四个连接地址的 SNMP GET、GETNEXT、GETBULK，以及接口和路由首项读取成功。这只证明当次短测可用；完整表、正式凭据、设备身份和参考速率仍待确认。WARP 仅用于开发接入，系统计划在 DEV 内采集。</a:t>
            </a:r>
          </a:p>
          <a:p>
            <a:endParaRPr/>
          </a:p>
          <a:p>
            <a:r>
              <a:t>依据：课程设计说明.pdf、总体草稿及四人职责。真人排练用时待填写。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全组第 3 页｜蒋天乐｜计划 60 秒</a:t>
            </a:r>
          </a:p>
          <a:p>
            <a:r>
              <a:t>系统计划部署在 DEV：通过 SNMP、ping 和内网 iperf3 任务采集，业务层形成五类结果，存入 SQLite，再由 FastAPI 和网页提供查询。</a:t>
            </a:r>
          </a:p>
          <a:p>
            <a:r>
              <a:t>我们先统一设备与接口标识、UTC 时间、单位、数据来源和错误状态，避免模块之间对同一对象产生不同解释。我负责公共基础与集成；金海负责 SNMP 和 ping 采集，元泽瑞计算速率与流量，段景瀚负责安全及界面。</a:t>
            </a:r>
          </a:p>
          <a:p>
            <a:r>
              <a:t>轮询有超时，测试任务有端点互斥和清理。目前这是架构与接口草案，完整系统尚未部署。</a:t>
            </a:r>
          </a:p>
          <a:p>
            <a:endParaRPr/>
          </a:p>
          <a:p>
            <a:r>
              <a:t>依据：课程设计说明.pdf、总体草稿及四人职责。真人排练用时待填写。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全组第 4 页｜金海｜计划 120 秒</a:t>
            </a:r>
          </a:p>
          <a:p>
            <a:r>
              <a:t>故障和配置由金海负责。故障页面预计显示目标状态、异常证据、首次发现时间和恢复记录。数据来自 ping 与接口管理/运行状态。初期建议每五到十秒采样、连续三次异常确认，参数可调。持续事件去重，恢复后保存持续时间。</a:t>
            </a:r>
          </a:p>
          <a:p>
            <a:r>
              <a:t>诊断要区分不同证据：ping 失败但 SNMP 正常，只能给出连通性或 ICMP 响应异常线索；SNMP 超时可能是访问或查询问题，不能直接判设备宕机。</a:t>
            </a:r>
          </a:p>
          <a:p>
            <a:r>
              <a:t>配置页面预计显示设备、接口、路由和有依据的逻辑拓扑，保存快照并比较新增、缺失与变化。四地址的明确 OID GET、接口/路由首项及小范围 GETNEXT/GETBULK 已验证；完整表仍待核对。地址归并和出接口关联也需核对，未知关系在页面标待确认。</a:t>
            </a:r>
          </a:p>
          <a:p>
            <a:r>
              <a:t>验证时先用清楚标注的异常、持续和恢复样例检查状态逻辑，用两次有效快照核对差异；真实停机或断链场景需要老师确认允许方式及恢复步骤。完整表采集和业务页面仍未实现。</a:t>
            </a:r>
          </a:p>
          <a:p/>
          <a:p>
            <a:r>
              <a:t>依据：课程设计说明.pdf、总体草稿及四人职责。真人排练用时待填写。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9544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全组第 5 页｜元泽瑞｜计划 90 秒</a:t>
            </a:r>
          </a:p>
          <a:p>
            <a:r>
              <a:t>性能模块由元泽瑞负责，三类指标分开解释。左侧五次探测一包无响应的 20% 丢包率、右侧速率曲线都是构造示意；实际 ping 趋势将复用金海的采样，无响应 RTT 保留空值。</a:t>
            </a:r>
          </a:p>
          <a:p>
            <a:r>
              <a:t>中间是端点间 iperf3 任务：服务端就绪后启动客户端，保存参数、状态、结果或错误，并清理本任务进程。10 月 2 日一到二主机的两秒、10 Mbit/s 限速短测接收约 9.92 Mbit/s，只证明该方向工具配对与传输可用，不是最大带宽。</a:t>
            </a:r>
          </a:p>
          <a:p>
            <a:r>
              <a:t>接口方向速率用两次有效字节计数按实际时间差计算，首次、复位和缺口区间无效。参考速率可靠时才计算利用率；本次四地址 ens3 的 ifHighSpeed 和 ifSpeed 都为 0，当前利用率应显示未知。后续用受控传输、独立算例和失败清理验证完整流程。</a:t>
            </a:r>
          </a:p>
          <a:p/>
          <a:p>
            <a:r>
              <a:t>依据：课程设计说明.pdf、总体草稿及四人职责。真人排练用时待填写。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全组第 6 页｜元泽瑞｜计划 60 秒</a:t>
            </a:r>
          </a:p>
          <a:p>
            <a:r>
              <a:t>计费模块先对应网元间流量统计。左侧是构造算例：同一接口的五秒窗口，入方向从一百万到一百六十二万五千字节，出方向从两百万到二百三十一万二千五百字节。有效增量分别是 625000 和 312500 byte，按八倍除以五秒得到 1 和 0.5 Mbit/s；报表用十进制 kB 展示为 625.0 和 312.5。</a:t>
            </a:r>
          </a:p>
          <a:p>
            <a:r>
              <a:t>系统将对确认的接口或子网边界做时间筛选、方向汇总、完整性标记和 CSV 导出。页面数字是构造样例，不是实验网的真实流量；采集缺口不能填零，也不能把同一流量多跳重复相加。</a:t>
            </a:r>
          </a:p>
          <a:p>
            <a:r>
              <a:t>接口总计数没有主机对的源和目的信息；若验收要求精确归属，需要流记录或指定位置的抓包支持。开题希望确认接口或子网边界统计是否满足最低要求。</a:t>
            </a:r>
          </a:p>
          <a:p/>
          <a:p>
            <a:r>
              <a:t>依据：课程设计说明.pdf、总体草稿及四人职责。真人排练用时待填写。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安全管理只做和证据相称的结论。我们会给已经确认的目标和允许端口建立服务基线，用 Python 的 TCP 连接检测发现新增服务和非预期端口；需要识别服务时，再在 DEV 上做有限的连接扫描。异常流量不单独采集，复用性能模块的指标，持续超过阈值或偏离历史基线才记成线索。每条记录保留目标、时间、规则和证据。右边是预期界面样例：例如允许端口只有 22，却发现 8081，状态是待人工确认的风险线索，不能写成漏洞或攻击。验收时在 DEV 上临时打开再撤掉一个测试服务。如果需要定位攻击源，就要日志、流记录或指定位置的抓包权限。现在内网账号没有 root，我们不会把抓包写成已有能力。若被问到验收深度：服务基线变化和异常流量提示是当前可交付范围；不能凭接口总流量判断攻击源。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94033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 月 2 日复测确认：DEV 和三台主机可登录，三台 ping 均收到；一对主机的限速 iperf3 跑通，四个地址的 SNMP 接口与路由首项可读，小范围 GETNEXT 和 GETBULK 查询成功。这些只是当次短测，不代表最大带宽或系统完成。本机样例页面已验证，五项业务系统尚未在 DEV 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9057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全组第 9 页｜蒋天乐｜计划 90 秒</a:t>
            </a:r>
          </a:p>
          <a:p>
            <a:r>
              <a:t>这页讲整个项目约九到十周的实施分工。我负责架构、公共后端、数据库、调度和 DEV 集成；金海负责故障、配置及 SNMP、ping 采集；元泽瑞负责性能、计费、测试任务和导出；段景瀚负责安全逻辑、公共界面与图表组件。各负责人还交本模块 API、页面接入与验证记录，四人分工仍待确认。</a:t>
            </a:r>
          </a:p>
          <a:p>
            <a:r>
              <a:t>第 1 到 2 周确认范围和公共约定，接通至少一条真实采集、入库、页面流程。第 3 到 6 周并行完成五项模块及各自的异常处理。第 7 到 8 周做跨模块联调、DEV 部署和数据口径核对。第 9 周完成受控验证、文档和核心验收；第 10 周作为修复、复测和提交缓冲。最终截止日期待老师公布，收到反馈再调整。</a:t>
            </a:r>
          </a:p>
          <a:p>
            <a:r>
              <a:t/>
            </a:r>
          </a:p>
          <a:p>
            <a:r>
              <a:t/>
            </a:r>
          </a:p>
          <a:p>
            <a:endParaRPr/>
          </a:p>
          <a:p>
            <a:r>
              <a:t>依据：课程设计说明.pdf、总体草稿及四人职责。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全组第 10 页｜蒋天乐｜计划 30 秒</a:t>
            </a:r>
          </a:p>
          <a:p>
            <a:r>
              <a:t>最后希望优先确认三件事：SNMP 的正式凭据、设备身份映射和接口参考速率来源；接口或子网边界统计是否满足计费要求；服务变化和异常流量提示是否满足安全验收，如果需要攻击源定位，可提供哪些数据。最终截止时间、部署限制和测试范围也希望获得说明。得到反馈后，我们会更新接口与计划。谢谢。</a:t>
            </a:r>
          </a:p>
          <a:p>
            <a:endParaRPr/>
          </a:p>
          <a:p>
            <a:r>
              <a:t>依据：课程设计说明.pdf、总体草稿及四人职责。真人排练用时待填写。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8681"/>
          </a:solidFill>
          <a:ln w="9525">
            <a:solidFill>
              <a:srgbClr val="00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08681"/>
                </a:solidFill>
                <a:latin typeface="Microsoft YaHei"/>
                <a:ea typeface="Microsoft YaHei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310896"/>
            <a:ext cx="3867912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蒋天乐 · 计划 1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74552" cy="5760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12263A"/>
                </a:solidFill>
                <a:latin typeface="Microsoft YaHei"/>
                <a:ea typeface="Microsoft YaHei"/>
              </a:rPr>
              <a:t>实验网络管理系统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274552" cy="29260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27387"/>
                </a:solidFill>
                <a:latin typeface="Microsoft YaHei"/>
                <a:ea typeface="Microsoft YaHei"/>
              </a:rPr>
              <a:t>基于 SNMP 只读查询与主动探测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55080"/>
            <a:ext cx="1127455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8686800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开题整合草稿 · 待组内确认 · 方案与实测分别标注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73952"/>
            <a:ext cx="2039112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全组第 01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11155680" cy="5943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64A"/>
                </a:solidFill>
                <a:latin typeface="Microsoft YaHei"/>
                <a:ea typeface="Microsoft YaHei"/>
              </a:rPr>
              <a:t>统一采集  ·  保存历史  ·  可追溯展示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2130552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3182112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故障管理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785615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异常与恢复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926080"/>
            <a:ext cx="2130552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98648" y="3182112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配置管理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785615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设备与逻辑拓扑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926080"/>
            <a:ext cx="2130552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4648" y="3182112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性能管理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785615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延迟与吞吐量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926080"/>
            <a:ext cx="2130552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0648" y="3182112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计费管理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3785615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方向流量报表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926080"/>
            <a:ext cx="2130552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56648" y="3182112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安全管理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3785615"/>
            <a:ext cx="182880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风险与证据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28032"/>
            <a:ext cx="10515600" cy="39319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20364A"/>
                </a:solidFill>
                <a:latin typeface="Microsoft YaHei"/>
                <a:ea typeface="Microsoft YaHei"/>
              </a:rPr>
              <a:t>部署位置：DEV（192.168.0.100）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31536"/>
            <a:ext cx="11155680" cy="35661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627387"/>
                </a:solidFill>
                <a:latin typeface="Microsoft YaHei"/>
                <a:ea typeface="Microsoft YaHei"/>
              </a:rPr>
              <a:t>蒋天乐（组长）  /  金海  /  元泽瑞  /  段景瀚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8681"/>
          </a:solidFill>
          <a:ln w="9525">
            <a:solidFill>
              <a:srgbClr val="00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08681"/>
                </a:solidFill>
                <a:latin typeface="Microsoft YaHei"/>
                <a:ea typeface="Microsoft YaHei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310896"/>
            <a:ext cx="3867912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蒋天乐 · 计划 1.5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74552" cy="5760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12263A"/>
                </a:solidFill>
                <a:latin typeface="Microsoft YaHei"/>
                <a:ea typeface="Microsoft YaHei"/>
              </a:rPr>
              <a:t>实验环境与能力边界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274552" cy="29260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27387"/>
                </a:solidFill>
                <a:latin typeface="Microsoft YaHei"/>
                <a:ea typeface="Microsoft YaHei"/>
              </a:rPr>
              <a:t>系统在 DEV 采集；开发接入和实验内网分开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55080"/>
            <a:ext cx="1127455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8686800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开题整合草稿 · 待组内确认 · 方案与实测分别标注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73952"/>
            <a:ext cx="2039112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全组第 02 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3355848"/>
            <a:ext cx="6537960" cy="0"/>
          </a:xfrm>
          <a:prstGeom prst="line">
            <a:avLst/>
          </a:prstGeom>
          <a:ln w="38100">
            <a:solidFill>
              <a:srgbClr val="12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999232"/>
            <a:ext cx="6035040" cy="25603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627387"/>
                </a:solidFill>
                <a:latin typeface="Microsoft YaHei"/>
                <a:ea typeface="Microsoft YaHei"/>
              </a:rPr>
              <a:t>中间网络／文档连接关系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874519"/>
            <a:ext cx="2331720" cy="80467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1984248"/>
            <a:ext cx="2157984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64A"/>
                </a:solidFill>
                <a:latin typeface="Microsoft YaHei"/>
                <a:ea typeface="Microsoft YaHei"/>
              </a:rPr>
              <a:t>192.168.2.0/24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350008"/>
            <a:ext cx="2157984" cy="21031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测试主机 192.168.2.1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86100" y="2679192"/>
            <a:ext cx="0" cy="676656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65960" y="2752344"/>
            <a:ext cx="2286000" cy="21945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64A"/>
                </a:solidFill>
                <a:latin typeface="Microsoft YaHei"/>
                <a:ea typeface="Microsoft YaHei"/>
              </a:rPr>
              <a:t>192.168.0.5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4" y="1874519"/>
            <a:ext cx="2331720" cy="80467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92624" y="1984248"/>
            <a:ext cx="2157984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64A"/>
                </a:solidFill>
                <a:latin typeface="Microsoft YaHei"/>
                <a:ea typeface="Microsoft YaHei"/>
              </a:rPr>
              <a:t>192.168.3.0/24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2350008"/>
            <a:ext cx="2157984" cy="21031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测试主机 192.168.3.1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67044" y="2679192"/>
            <a:ext cx="0" cy="676656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46904" y="2752344"/>
            <a:ext cx="2286000" cy="21945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64A"/>
                </a:solidFill>
                <a:latin typeface="Microsoft YaHei"/>
                <a:ea typeface="Microsoft YaHei"/>
              </a:rPr>
              <a:t>192.168.0.8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63040" y="3355848"/>
            <a:ext cx="0" cy="923544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822191"/>
            <a:ext cx="2240280" cy="23774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64A"/>
                </a:solidFill>
                <a:latin typeface="Microsoft YaHei"/>
                <a:ea typeface="Microsoft YaHei"/>
              </a:rPr>
              <a:t>192.168.0.100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79392"/>
            <a:ext cx="1874519" cy="841248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517136"/>
            <a:ext cx="1554480" cy="36576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008681"/>
                </a:solidFill>
                <a:latin typeface="Microsoft YaHei"/>
                <a:ea typeface="Microsoft YaHei"/>
              </a:rPr>
              <a:t>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4279392"/>
            <a:ext cx="2926080" cy="841248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41648" y="4425696"/>
            <a:ext cx="2697480" cy="24688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</a:rPr>
              <a:t>192.168.1.0/24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4809744"/>
            <a:ext cx="2697480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27387"/>
                </a:solidFill>
                <a:latin typeface="Microsoft YaHei"/>
                <a:ea typeface="Microsoft YaHei"/>
              </a:rPr>
              <a:t>测试主机 192.168.1.1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07408" y="3355848"/>
            <a:ext cx="0" cy="923544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483864" y="3703320"/>
            <a:ext cx="1645920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64A"/>
                </a:solidFill>
                <a:latin typeface="Microsoft YaHei"/>
                <a:ea typeface="Microsoft YaHei"/>
              </a:rPr>
              <a:t>192.168.0.1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71616" y="3355848"/>
            <a:ext cx="0" cy="923544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50992" y="3703320"/>
            <a:ext cx="1645920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64A"/>
                </a:solidFill>
                <a:latin typeface="Microsoft YaHei"/>
                <a:ea typeface="Microsoft YaHei"/>
              </a:rPr>
              <a:t>192.168.0.2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36408" y="1856231"/>
            <a:ext cx="3895344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37575" y="2002536"/>
            <a:ext cx="3493008" cy="29260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08681"/>
                </a:solidFill>
                <a:latin typeface="Microsoft YaHei"/>
                <a:ea typeface="Microsoft YaHei"/>
              </a:rPr>
              <a:t>SNMP 只读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5" y="2478024"/>
            <a:ext cx="3493008" cy="402335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64A"/>
                </a:solidFill>
                <a:latin typeface="Microsoft YaHei"/>
                <a:ea typeface="Microsoft YaHei"/>
              </a:rPr>
              <a:t>v2c GET；无 SET / TRAP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36408" y="3172968"/>
            <a:ext cx="3895344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37575" y="3319272"/>
            <a:ext cx="3493008" cy="29260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08681"/>
                </a:solidFill>
                <a:latin typeface="Microsoft YaHei"/>
                <a:ea typeface="Microsoft YaHei"/>
              </a:rPr>
              <a:t>端点主动测试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37575" y="3794760"/>
            <a:ext cx="3493008" cy="5760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64A"/>
                </a:solidFill>
                <a:latin typeface="Microsoft YaHei"/>
                <a:ea typeface="Microsoft YaHei"/>
              </a:rPr>
              <a:t>test-user 无 root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64A"/>
                </a:solidFill>
                <a:latin typeface="Microsoft YaHei"/>
                <a:ea typeface="Microsoft YaHei"/>
              </a:rPr>
              <a:t>ping / iperf3 已预装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36408" y="4663440"/>
            <a:ext cx="3895344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37575" y="4809744"/>
            <a:ext cx="3493008" cy="29260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08681"/>
                </a:solidFill>
                <a:latin typeface="Microsoft YaHei"/>
                <a:ea typeface="Microsoft YaHei"/>
              </a:rPr>
              <a:t>后续待确认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7575" y="5285231"/>
            <a:ext cx="3493008" cy="402335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64A"/>
                </a:solidFill>
                <a:latin typeface="Microsoft YaHei"/>
                <a:ea typeface="Microsoft YaHei"/>
              </a:rPr>
              <a:t>凭据、设备身份、参考速率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577840"/>
            <a:ext cx="6949440" cy="43891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27387"/>
                </a:solidFill>
                <a:latin typeface="Microsoft YaHei"/>
                <a:ea typeface="Microsoft YaHei"/>
              </a:rPr>
              <a:t>双接入保持独立；地址数量不等于物理设备数量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8681"/>
          </a:solidFill>
          <a:ln w="9525">
            <a:solidFill>
              <a:srgbClr val="00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08681"/>
                </a:solidFill>
                <a:latin typeface="Microsoft YaHei"/>
                <a:ea typeface="Microsoft YaHei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310896"/>
            <a:ext cx="3867912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蒋天乐 · 计划 1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74552" cy="5760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12263A"/>
                </a:solidFill>
                <a:latin typeface="Microsoft YaHei"/>
                <a:ea typeface="Microsoft YaHei"/>
              </a:rPr>
              <a:t>总体架构与数据流程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274552" cy="29260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27387"/>
                </a:solidFill>
                <a:latin typeface="Microsoft YaHei"/>
                <a:ea typeface="Microsoft YaHei"/>
              </a:rPr>
              <a:t>一套标识、时间、单位和来源，连接五项功能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55080"/>
            <a:ext cx="1127455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8686800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开题整合草稿 · 待组内确认 · 方案与实测分别标注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73952"/>
            <a:ext cx="2039112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全组第 03 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2093976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1691640" cy="42062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实验网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98648"/>
            <a:ext cx="1691640" cy="111556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设备／接口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三台测试主机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798064"/>
            <a:ext cx="228600" cy="3474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0868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2344" y="2103120"/>
            <a:ext cx="2093976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3512" y="2286000"/>
            <a:ext cx="1691640" cy="42062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采集／任务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898648"/>
            <a:ext cx="1691640" cy="111556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SNMP / ping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SSH + iperf3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5" y="2798064"/>
            <a:ext cx="228600" cy="3474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0868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2103120"/>
            <a:ext cx="2093976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655" y="2286000"/>
            <a:ext cx="1691640" cy="42062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业务解析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5" y="2898648"/>
            <a:ext cx="1691640" cy="111556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故障／配置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性能／计费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安全风险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9" y="2798064"/>
            <a:ext cx="228600" cy="3474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0868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42631" y="2103120"/>
            <a:ext cx="2093976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2286000"/>
            <a:ext cx="1691640" cy="42062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898648"/>
            <a:ext cx="1691640" cy="111556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原始样本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事件／任务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3" y="2798064"/>
            <a:ext cx="228600" cy="3474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0868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37776" y="2103120"/>
            <a:ext cx="2093976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38944" y="2286000"/>
            <a:ext cx="1691640" cy="42062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API／网页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8944" y="2898648"/>
            <a:ext cx="1691640" cy="111556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FastAPI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HTML / JS / ECharts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11274552" cy="1097280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4837176"/>
            <a:ext cx="10789920" cy="32918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08681"/>
                </a:solidFill>
                <a:latin typeface="Microsoft YaHei"/>
                <a:ea typeface="Microsoft YaHei"/>
              </a:rPr>
              <a:t>公共约定：稳定标识 · UTC 时间 · 单位 · 来源 · 错误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5349240"/>
            <a:ext cx="10789920" cy="26517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64A"/>
                </a:solidFill>
                <a:latin typeface="Microsoft YaHei"/>
                <a:ea typeface="Microsoft YaHei"/>
              </a:rPr>
              <a:t>轮询有超时；测试有端点锁和清理；无效样本保留原因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8681"/>
          </a:solidFill>
          <a:ln w="9525">
            <a:solidFill>
              <a:srgbClr val="00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08681"/>
                </a:solidFill>
                <a:latin typeface="Microsoft YaHei"/>
                <a:ea typeface="Microsoft YaHei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310896"/>
            <a:ext cx="3867912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金海 · 计划 2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74552" cy="5760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12263A"/>
                </a:solidFill>
                <a:latin typeface="Microsoft YaHei"/>
                <a:ea typeface="Microsoft YaHei"/>
              </a:rPr>
              <a:t>故障管理与配置管理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274552" cy="29260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27387"/>
                </a:solidFill>
                <a:latin typeface="Microsoft YaHei"/>
                <a:ea typeface="Microsoft YaHei"/>
              </a:rPr>
              <a:t>设备信息与配置变化可查，持续异常与恢复可追溯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55080"/>
            <a:ext cx="1127455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8686800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开题汇报 · 预期效果与样例示意 · 待组内确认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73952"/>
            <a:ext cx="2039112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全组第 04 页</a:t>
            </a:r>
          </a:p>
        </p:txBody>
      </p:sp>
      <p:sp>
        <p:nvSpPr>
          <p:cNvPr id="10" name="故障管理卡片"/>
          <p:cNvSpPr/>
          <p:nvPr/>
        </p:nvSpPr>
        <p:spPr>
          <a:xfrm>
            <a:off x="457200" y="1856232"/>
            <a:ext cx="5495544" cy="349300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</p:sp>
      <p:sp>
        <p:nvSpPr>
          <p:cNvPr id="11" name="配置管理卡片"/>
          <p:cNvSpPr/>
          <p:nvPr/>
        </p:nvSpPr>
        <p:spPr>
          <a:xfrm>
            <a:off x="6236208" y="1856232"/>
            <a:ext cx="5495544" cy="349300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</p:sp>
      <p:sp>
        <p:nvSpPr>
          <p:cNvPr id="12" name="故障管理标题"/>
          <p:cNvSpPr txBox="1"/>
          <p:nvPr/>
        </p:nvSpPr>
        <p:spPr>
          <a:xfrm>
            <a:off x="685800" y="2011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200" b="1">
                <a:solidFill>
                  <a:srgbClr val="008681"/>
                </a:solidFill>
                <a:latin typeface="Microsoft YaHei"/>
                <a:ea typeface="Microsoft YaHei"/>
              </a:rPr>
              <a:t>故障管理</a:t>
            </a:r>
            <a:endParaRPr lang="zh-CN" sz="2200"/>
          </a:p>
        </p:txBody>
      </p:sp>
      <p:sp>
        <p:nvSpPr>
          <p:cNvPr id="13" name="配置管理标题"/>
          <p:cNvSpPr txBox="1"/>
          <p:nvPr/>
        </p:nvSpPr>
        <p:spPr>
          <a:xfrm>
            <a:off x="6464808" y="2011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200" b="1">
                <a:solidFill>
                  <a:srgbClr val="008681"/>
                </a:solidFill>
                <a:latin typeface="Microsoft YaHei"/>
                <a:ea typeface="Microsoft YaHei"/>
              </a:rPr>
              <a:t>配置管理</a:t>
            </a:r>
            <a:endParaRPr lang="zh-CN" sz="2200"/>
          </a:p>
        </p:txBody>
      </p:sp>
      <p:sp>
        <p:nvSpPr>
          <p:cNvPr id="14" name="故障效果"/>
          <p:cNvSpPr txBox="1"/>
          <p:nvPr/>
        </p:nvSpPr>
        <p:spPr>
          <a:xfrm>
            <a:off x="685800" y="249631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700" b="0">
                <a:solidFill>
                  <a:srgbClr val="20364A"/>
                </a:solidFill>
                <a:latin typeface="Microsoft YaHei"/>
                <a:ea typeface="Microsoft YaHei"/>
              </a:rPr>
              <a:t>效果：可达性、接口状态、告警与恢复</a:t>
            </a:r>
            <a:endParaRPr lang="zh-CN" sz="1700"/>
          </a:p>
        </p:txBody>
      </p:sp>
      <p:sp>
        <p:nvSpPr>
          <p:cNvPr id="15" name="故障方法"/>
          <p:cNvSpPr txBox="1"/>
          <p:nvPr/>
        </p:nvSpPr>
        <p:spPr>
          <a:xfrm>
            <a:off x="685800" y="282549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700" b="0">
                <a:solidFill>
                  <a:srgbClr val="20364A"/>
                </a:solidFill>
                <a:latin typeface="Microsoft YaHei"/>
                <a:ea typeface="Microsoft YaHei"/>
              </a:rPr>
              <a:t>方法：ping + SNMP 接口状态轮询</a:t>
            </a:r>
            <a:endParaRPr lang="zh-CN" sz="1700"/>
          </a:p>
        </p:txBody>
      </p:sp>
      <p:sp>
        <p:nvSpPr>
          <p:cNvPr id="16" name="故障规则"/>
          <p:cNvSpPr txBox="1"/>
          <p:nvPr/>
        </p:nvSpPr>
        <p:spPr>
          <a:xfrm>
            <a:off x="685800" y="31546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700" b="0">
                <a:solidFill>
                  <a:srgbClr val="20364A"/>
                </a:solidFill>
                <a:latin typeface="Microsoft YaHei"/>
                <a:ea typeface="Microsoft YaHei"/>
              </a:rPr>
              <a:t>规则：连续异常确认，同一事件去重</a:t>
            </a:r>
            <a:endParaRPr lang="zh-CN" sz="1700"/>
          </a:p>
        </p:txBody>
      </p:sp>
      <p:sp>
        <p:nvSpPr>
          <p:cNvPr id="17" name="配置效果"/>
          <p:cNvSpPr txBox="1"/>
          <p:nvPr/>
        </p:nvSpPr>
        <p:spPr>
          <a:xfrm>
            <a:off x="6464808" y="249631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700" b="0">
                <a:solidFill>
                  <a:srgbClr val="20364A"/>
                </a:solidFill>
                <a:latin typeface="Microsoft YaHei"/>
                <a:ea typeface="Microsoft YaHei"/>
              </a:rPr>
              <a:t>效果：设备/接口/路由、逻辑拓扑与变化</a:t>
            </a:r>
            <a:endParaRPr lang="zh-CN" sz="1700"/>
          </a:p>
        </p:txBody>
      </p:sp>
      <p:sp>
        <p:nvSpPr>
          <p:cNvPr id="18" name="配置方法"/>
          <p:cNvSpPr txBox="1"/>
          <p:nvPr/>
        </p:nvSpPr>
        <p:spPr>
          <a:xfrm>
            <a:off x="6464808" y="282549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altLang="en-US" sz="1700" b="0">
                <a:solidFill>
                  <a:srgbClr val="20364A"/>
                </a:solidFill>
                <a:latin typeface="Microsoft YaHei"/>
                <a:ea typeface="Microsoft YaHei"/>
              </a:rPr>
              <a:t>方法：</a:t>
            </a:r>
            <a:r>
              <a:rPr lang="en-US" altLang="zh-CN" sz="1700" b="0">
                <a:solidFill>
                  <a:srgbClr val="20364A"/>
                </a:solidFill>
                <a:latin typeface="Microsoft YaHei"/>
                <a:ea typeface="Microsoft YaHei"/>
              </a:rPr>
              <a:t>SNMP </a:t>
            </a:r>
            <a:r>
              <a:rPr lang="zh-CN" altLang="en-US" sz="1700" b="0">
                <a:solidFill>
                  <a:srgbClr val="20364A"/>
                </a:solidFill>
                <a:latin typeface="Microsoft YaHei"/>
                <a:ea typeface="Microsoft YaHei"/>
              </a:rPr>
              <a:t>只读；小范围遍历已验证</a:t>
            </a:r>
            <a:endParaRPr lang="zh-CN" sz="1700"/>
          </a:p>
        </p:txBody>
      </p:sp>
      <p:sp>
        <p:nvSpPr>
          <p:cNvPr id="19" name="配置对比"/>
          <p:cNvSpPr txBox="1"/>
          <p:nvPr/>
        </p:nvSpPr>
        <p:spPr>
          <a:xfrm>
            <a:off x="6464808" y="31546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700" b="0">
                <a:solidFill>
                  <a:srgbClr val="20364A"/>
                </a:solidFill>
                <a:latin typeface="Microsoft YaHei"/>
                <a:ea typeface="Microsoft YaHei"/>
              </a:rPr>
              <a:t>对比：两次快照的新增、缺失与变化</a:t>
            </a:r>
            <a:endParaRPr lang="zh-CN" sz="1700"/>
          </a:p>
        </p:txBody>
      </p:sp>
      <p:sp>
        <p:nvSpPr>
          <p:cNvPr id="20" name="故障状态示意标签"/>
          <p:cNvSpPr txBox="1"/>
          <p:nvPr/>
        </p:nvSpPr>
        <p:spPr>
          <a:xfrm>
            <a:off x="685800" y="356616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300" b="0">
                <a:solidFill>
                  <a:srgbClr val="627387"/>
                </a:solidFill>
                <a:latin typeface="Microsoft YaHei"/>
                <a:ea typeface="Microsoft YaHei"/>
              </a:rPr>
              <a:t>故障/事件预期界面 · 构造样例</a:t>
            </a:r>
            <a:endParaRPr lang="zh-CN" sz="1300"/>
          </a:p>
        </p:txBody>
      </p:sp>
      <p:sp>
        <p:nvSpPr>
          <p:cNvPr id="21" name="设备关系示意标签"/>
          <p:cNvSpPr txBox="1"/>
          <p:nvPr/>
        </p:nvSpPr>
        <p:spPr>
          <a:xfrm>
            <a:off x="6464808" y="356616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300" b="0">
                <a:solidFill>
                  <a:srgbClr val="627387"/>
                </a:solidFill>
                <a:latin typeface="Microsoft YaHei"/>
                <a:ea typeface="Microsoft YaHei"/>
              </a:rPr>
              <a:t>设备/拓扑/变化预期界面 · 构造样例</a:t>
            </a:r>
            <a:endParaRPr lang="zh-CN" sz="1300"/>
          </a:p>
        </p:txBody>
      </p:sp>
      <p:sp>
        <p:nvSpPr>
          <p:cNvPr id="22" name="故障状态框_正常"/>
          <p:cNvSpPr/>
          <p:nvPr/>
        </p:nvSpPr>
        <p:spPr>
          <a:xfrm>
            <a:off x="713232" y="3886200"/>
            <a:ext cx="1005840" cy="438912"/>
          </a:xfrm>
          <a:prstGeom prst="roundRect">
            <a:avLst>
              <a:gd name="adj" fmla="val 65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</p:sp>
      <p:sp>
        <p:nvSpPr>
          <p:cNvPr id="23" name="故障状态_正常"/>
          <p:cNvSpPr txBox="1"/>
          <p:nvPr/>
        </p:nvSpPr>
        <p:spPr>
          <a:xfrm>
            <a:off x="713232" y="388620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500" b="1">
                <a:solidFill>
                  <a:srgbClr val="008681"/>
                </a:solidFill>
                <a:latin typeface="Microsoft YaHei"/>
                <a:ea typeface="Microsoft YaHei"/>
              </a:rPr>
              <a:t>正常</a:t>
            </a:r>
            <a:endParaRPr lang="zh-CN" sz="1500"/>
          </a:p>
        </p:txBody>
      </p:sp>
      <p:sp>
        <p:nvSpPr>
          <p:cNvPr id="24" name="故障状态框_持续异常"/>
          <p:cNvSpPr/>
          <p:nvPr/>
        </p:nvSpPr>
        <p:spPr>
          <a:xfrm>
            <a:off x="1965960" y="3886200"/>
            <a:ext cx="1005840" cy="438912"/>
          </a:xfrm>
          <a:prstGeom prst="roundRect">
            <a:avLst>
              <a:gd name="adj" fmla="val 6500"/>
            </a:avLst>
          </a:prstGeom>
          <a:solidFill>
            <a:srgbClr val="FFF3DF"/>
          </a:solidFill>
          <a:ln w="9525">
            <a:solidFill>
              <a:srgbClr val="FFF3DF"/>
            </a:solidFill>
          </a:ln>
        </p:spPr>
      </p:sp>
      <p:sp>
        <p:nvSpPr>
          <p:cNvPr id="25" name="故障状态_持续异常"/>
          <p:cNvSpPr txBox="1"/>
          <p:nvPr/>
        </p:nvSpPr>
        <p:spPr>
          <a:xfrm>
            <a:off x="1965960" y="388620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500" b="1">
                <a:solidFill>
                  <a:srgbClr val="946018"/>
                </a:solidFill>
                <a:latin typeface="Microsoft YaHei"/>
                <a:ea typeface="Microsoft YaHei"/>
              </a:rPr>
              <a:t>持续异常</a:t>
            </a:r>
            <a:endParaRPr lang="zh-CN" sz="1500"/>
          </a:p>
        </p:txBody>
      </p:sp>
      <p:sp>
        <p:nvSpPr>
          <p:cNvPr id="26" name="故障状态框_告警"/>
          <p:cNvSpPr/>
          <p:nvPr/>
        </p:nvSpPr>
        <p:spPr>
          <a:xfrm>
            <a:off x="3218688" y="3886200"/>
            <a:ext cx="1005840" cy="438912"/>
          </a:xfrm>
          <a:prstGeom prst="roundRect">
            <a:avLst>
              <a:gd name="adj" fmla="val 6500"/>
            </a:avLst>
          </a:prstGeom>
          <a:solidFill>
            <a:srgbClr val="FCE7E5"/>
          </a:solidFill>
          <a:ln w="9525">
            <a:solidFill>
              <a:srgbClr val="FCE7E5"/>
            </a:solidFill>
          </a:ln>
        </p:spPr>
      </p:sp>
      <p:sp>
        <p:nvSpPr>
          <p:cNvPr id="27" name="故障状态_告警"/>
          <p:cNvSpPr txBox="1"/>
          <p:nvPr/>
        </p:nvSpPr>
        <p:spPr>
          <a:xfrm>
            <a:off x="3218688" y="388620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500" b="1">
                <a:solidFill>
                  <a:srgbClr val="AE413C"/>
                </a:solidFill>
                <a:latin typeface="Microsoft YaHei"/>
                <a:ea typeface="Microsoft YaHei"/>
              </a:rPr>
              <a:t>告警</a:t>
            </a:r>
            <a:endParaRPr lang="zh-CN" sz="1500"/>
          </a:p>
        </p:txBody>
      </p:sp>
      <p:sp>
        <p:nvSpPr>
          <p:cNvPr id="28" name="故障状态框_恢复"/>
          <p:cNvSpPr/>
          <p:nvPr/>
        </p:nvSpPr>
        <p:spPr>
          <a:xfrm>
            <a:off x="4471416" y="3886200"/>
            <a:ext cx="1005840" cy="438912"/>
          </a:xfrm>
          <a:prstGeom prst="roundRect">
            <a:avLst>
              <a:gd name="adj" fmla="val 65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</p:sp>
      <p:sp>
        <p:nvSpPr>
          <p:cNvPr id="29" name="故障状态_恢复"/>
          <p:cNvSpPr txBox="1"/>
          <p:nvPr/>
        </p:nvSpPr>
        <p:spPr>
          <a:xfrm>
            <a:off x="4471416" y="388620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500" b="1">
                <a:solidFill>
                  <a:srgbClr val="008681"/>
                </a:solidFill>
                <a:latin typeface="Microsoft YaHei"/>
                <a:ea typeface="Microsoft YaHei"/>
              </a:rPr>
              <a:t>恢复</a:t>
            </a:r>
            <a:endParaRPr lang="zh-CN" sz="1500"/>
          </a:p>
        </p:txBody>
      </p:sp>
      <p:cxnSp>
        <p:nvCxnSpPr>
          <p:cNvPr id="30" name="正常到异常"/>
          <p:cNvCxnSpPr/>
          <p:nvPr/>
        </p:nvCxnSpPr>
        <p:spPr>
          <a:xfrm>
            <a:off x="1773936" y="4105656"/>
            <a:ext cx="146304" cy="0"/>
          </a:xfrm>
          <a:prstGeom prst="line">
            <a:avLst/>
          </a:prstGeom>
          <a:ln w="19050">
            <a:solidFill>
              <a:srgbClr val="627387"/>
            </a:solidFill>
            <a:headEnd type="none"/>
            <a:tailEnd type="triangle" w="sm" len="sm"/>
          </a:ln>
        </p:spPr>
      </p:cxnSp>
      <p:cxnSp>
        <p:nvCxnSpPr>
          <p:cNvPr id="31" name="异常到告警"/>
          <p:cNvCxnSpPr/>
          <p:nvPr/>
        </p:nvCxnSpPr>
        <p:spPr>
          <a:xfrm>
            <a:off x="3026664" y="4105656"/>
            <a:ext cx="146304" cy="0"/>
          </a:xfrm>
          <a:prstGeom prst="line">
            <a:avLst/>
          </a:prstGeom>
          <a:ln w="19050">
            <a:solidFill>
              <a:srgbClr val="627387"/>
            </a:solidFill>
            <a:headEnd type="none"/>
            <a:tailEnd type="triangle" w="sm" len="sm"/>
          </a:ln>
        </p:spPr>
      </p:cxnSp>
      <p:cxnSp>
        <p:nvCxnSpPr>
          <p:cNvPr id="32" name="告警到恢复"/>
          <p:cNvCxnSpPr/>
          <p:nvPr/>
        </p:nvCxnSpPr>
        <p:spPr>
          <a:xfrm>
            <a:off x="4279392" y="4105656"/>
            <a:ext cx="146304" cy="0"/>
          </a:xfrm>
          <a:prstGeom prst="line">
            <a:avLst/>
          </a:prstGeom>
          <a:ln w="19050">
            <a:solidFill>
              <a:srgbClr val="627387"/>
            </a:solidFill>
            <a:headEnd type="none"/>
            <a:tailEnd type="triangle" w="sm" len="sm"/>
          </a:ln>
        </p:spPr>
      </p:cxnSp>
      <p:sp>
        <p:nvSpPr>
          <p:cNvPr id="33" name="事件记录说明"/>
          <p:cNvSpPr txBox="1"/>
          <p:nvPr/>
        </p:nvSpPr>
        <p:spPr>
          <a:xfrm>
            <a:off x="685800" y="439826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400" b="0">
                <a:solidFill>
                  <a:srgbClr val="627387"/>
                </a:solidFill>
                <a:latin typeface="Microsoft YaHei"/>
                <a:ea typeface="Microsoft YaHei"/>
              </a:rPr>
              <a:t>F01（样例）· 已恢复 · 首次 10:00:05</a:t>
            </a:r>
            <a:endParaRPr lang="zh-CN" sz="1400"/>
          </a:p>
        </p:txBody>
      </p:sp>
      <p:sp>
        <p:nvSpPr>
          <p:cNvPr id="34" name="事件恢复与证据"/>
          <p:cNvSpPr txBox="1"/>
          <p:nvPr/>
        </p:nvSpPr>
        <p:spPr>
          <a:xfrm>
            <a:off x="685800" y="4645152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350" b="0">
                <a:solidFill>
                  <a:srgbClr val="627387"/>
                </a:solidFill>
                <a:latin typeface="Microsoft YaHei"/>
                <a:ea typeface="Microsoft YaHei"/>
              </a:rPr>
              <a:t>恢复 10:00:25 · 时长 20 秒 · 接口 up/down</a:t>
            </a:r>
            <a:endParaRPr lang="zh-CN" sz="1350"/>
          </a:p>
        </p:txBody>
      </p:sp>
      <p:sp>
        <p:nvSpPr>
          <p:cNvPr id="35" name="设备清单样例行"/>
          <p:cNvSpPr/>
          <p:nvPr/>
        </p:nvSpPr>
        <p:spPr>
          <a:xfrm>
            <a:off x="6464808" y="3840480"/>
            <a:ext cx="5029200" cy="320040"/>
          </a:xfrm>
          <a:prstGeom prst="roundRect">
            <a:avLst>
              <a:gd name="adj" fmla="val 6500"/>
            </a:avLst>
          </a:prstGeom>
          <a:solidFill>
            <a:srgbClr val="F4F7FA"/>
          </a:solidFill>
          <a:ln w="9525">
            <a:solidFill>
              <a:srgbClr val="F4F7FA"/>
            </a:solidFill>
          </a:ln>
        </p:spPr>
      </p:sp>
      <p:sp>
        <p:nvSpPr>
          <p:cNvPr id="36" name="设备接口样例"/>
          <p:cNvSpPr txBox="1"/>
          <p:nvPr/>
        </p:nvSpPr>
        <p:spPr>
          <a:xfrm>
            <a:off x="6565392" y="38587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altLang="en-US" sz="1400" b="0">
                <a:solidFill>
                  <a:srgbClr val="20364A"/>
                </a:solidFill>
                <a:latin typeface="Microsoft YaHei"/>
                <a:ea typeface="Microsoft YaHei"/>
              </a:rPr>
              <a:t>示例设备 </a:t>
            </a:r>
            <a:r>
              <a:rPr lang="en-US" altLang="zh-CN" sz="1400" b="0">
                <a:solidFill>
                  <a:srgbClr val="20364A"/>
                </a:solidFill>
                <a:latin typeface="Microsoft YaHei"/>
                <a:ea typeface="Microsoft YaHei"/>
              </a:rPr>
              <a:t>· </a:t>
            </a:r>
            <a:r>
              <a:rPr lang="zh-CN" altLang="en-US" sz="1400" b="0">
                <a:solidFill>
                  <a:srgbClr val="20364A"/>
                </a:solidFill>
                <a:latin typeface="Microsoft YaHei"/>
                <a:ea typeface="Microsoft YaHei"/>
              </a:rPr>
              <a:t>接口 </a:t>
            </a:r>
            <a:r>
              <a:rPr lang="en-US" altLang="zh-CN" sz="1400" b="0">
                <a:solidFill>
                  <a:srgbClr val="20364A"/>
                </a:solidFill>
                <a:latin typeface="Microsoft YaHei"/>
                <a:ea typeface="Microsoft YaHei"/>
              </a:rPr>
              <a:t>A</a:t>
            </a:r>
            <a:r>
              <a:rPr lang="zh-CN" altLang="en-US" sz="1400" b="0">
                <a:solidFill>
                  <a:srgbClr val="20364A"/>
                </a:solidFill>
                <a:latin typeface="Microsoft YaHei"/>
                <a:ea typeface="Microsoft YaHei"/>
              </a:rPr>
              <a:t>（构造）</a:t>
            </a:r>
            <a:endParaRPr lang="zh-CN" sz="1400"/>
          </a:p>
        </p:txBody>
      </p:sp>
      <p:sp>
        <p:nvSpPr>
          <p:cNvPr id="37" name="接口状态样例"/>
          <p:cNvSpPr txBox="1"/>
          <p:nvPr/>
        </p:nvSpPr>
        <p:spPr>
          <a:xfrm>
            <a:off x="10652760" y="385876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400" b="1">
                <a:solidFill>
                  <a:srgbClr val="008681"/>
                </a:solidFill>
                <a:latin typeface="Microsoft YaHei"/>
                <a:ea typeface="Microsoft YaHei"/>
              </a:rPr>
              <a:t>up</a:t>
            </a:r>
            <a:endParaRPr lang="zh-CN" sz="1400"/>
          </a:p>
        </p:txBody>
      </p:sp>
      <p:sp>
        <p:nvSpPr>
          <p:cNvPr id="38" name="拓扑节点框_DEV"/>
          <p:cNvSpPr/>
          <p:nvPr/>
        </p:nvSpPr>
        <p:spPr>
          <a:xfrm>
            <a:off x="6464808" y="4270248"/>
            <a:ext cx="1005840" cy="310896"/>
          </a:xfrm>
          <a:prstGeom prst="roundRect">
            <a:avLst>
              <a:gd name="adj" fmla="val 65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</p:sp>
      <p:sp>
        <p:nvSpPr>
          <p:cNvPr id="39" name="拓扑节点_DEV"/>
          <p:cNvSpPr txBox="1"/>
          <p:nvPr/>
        </p:nvSpPr>
        <p:spPr>
          <a:xfrm>
            <a:off x="6464808" y="4270248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350" b="1">
                <a:solidFill>
                  <a:srgbClr val="008681"/>
                </a:solidFill>
                <a:latin typeface="Microsoft YaHei"/>
                <a:ea typeface="Microsoft YaHei"/>
              </a:rPr>
              <a:t>DEV</a:t>
            </a:r>
            <a:endParaRPr lang="zh-CN" sz="1350"/>
          </a:p>
        </p:txBody>
      </p:sp>
      <p:sp>
        <p:nvSpPr>
          <p:cNvPr id="40" name="拓扑节点框_示例对象"/>
          <p:cNvSpPr/>
          <p:nvPr/>
        </p:nvSpPr>
        <p:spPr>
          <a:xfrm>
            <a:off x="7882128" y="4270248"/>
            <a:ext cx="1481328" cy="310896"/>
          </a:xfrm>
          <a:prstGeom prst="roundRect">
            <a:avLst>
              <a:gd name="adj" fmla="val 65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</p:sp>
      <p:sp>
        <p:nvSpPr>
          <p:cNvPr id="41" name="拓扑节点_示例对象"/>
          <p:cNvSpPr txBox="1"/>
          <p:nvPr/>
        </p:nvSpPr>
        <p:spPr>
          <a:xfrm>
            <a:off x="7882128" y="4270248"/>
            <a:ext cx="1481328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350" b="1">
                <a:solidFill>
                  <a:srgbClr val="008681"/>
                </a:solidFill>
                <a:latin typeface="Microsoft YaHei"/>
                <a:ea typeface="Microsoft YaHei"/>
              </a:rPr>
              <a:t>示例对象</a:t>
            </a:r>
            <a:endParaRPr lang="zh-CN" sz="1350"/>
          </a:p>
        </p:txBody>
      </p:sp>
      <p:sp>
        <p:nvSpPr>
          <p:cNvPr id="42" name="拓扑节点框_网段/下一跳"/>
          <p:cNvSpPr/>
          <p:nvPr/>
        </p:nvSpPr>
        <p:spPr>
          <a:xfrm>
            <a:off x="9765792" y="4270248"/>
            <a:ext cx="1719072" cy="310896"/>
          </a:xfrm>
          <a:prstGeom prst="roundRect">
            <a:avLst>
              <a:gd name="adj" fmla="val 65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</p:sp>
      <p:sp>
        <p:nvSpPr>
          <p:cNvPr id="43" name="拓扑节点_网段/下一跳"/>
          <p:cNvSpPr txBox="1"/>
          <p:nvPr/>
        </p:nvSpPr>
        <p:spPr>
          <a:xfrm>
            <a:off x="9765792" y="4270248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sz="1350" b="1">
                <a:solidFill>
                  <a:srgbClr val="008681"/>
                </a:solidFill>
                <a:latin typeface="Microsoft YaHei"/>
                <a:ea typeface="Microsoft YaHei"/>
              </a:rPr>
              <a:t>网段/下一跳</a:t>
            </a:r>
            <a:endParaRPr lang="zh-CN" sz="1350"/>
          </a:p>
        </p:txBody>
      </p:sp>
      <p:cxnSp>
        <p:nvCxnSpPr>
          <p:cNvPr id="44" name="DEV查询设备"/>
          <p:cNvCxnSpPr/>
          <p:nvPr/>
        </p:nvCxnSpPr>
        <p:spPr>
          <a:xfrm>
            <a:off x="7543800" y="4425696"/>
            <a:ext cx="246888" cy="0"/>
          </a:xfrm>
          <a:prstGeom prst="line">
            <a:avLst/>
          </a:prstGeom>
          <a:ln w="19050">
            <a:solidFill>
              <a:srgbClr val="627387"/>
            </a:solidFill>
            <a:headEnd type="none"/>
            <a:tailEnd type="triangle" w="sm" len="sm"/>
          </a:ln>
        </p:spPr>
      </p:cxnSp>
      <p:cxnSp>
        <p:nvCxnSpPr>
          <p:cNvPr id="45" name="路由接口关联"/>
          <p:cNvCxnSpPr/>
          <p:nvPr/>
        </p:nvCxnSpPr>
        <p:spPr>
          <a:xfrm>
            <a:off x="9436608" y="4425696"/>
            <a:ext cx="246888" cy="0"/>
          </a:xfrm>
          <a:prstGeom prst="line">
            <a:avLst/>
          </a:prstGeom>
          <a:ln w="19050">
            <a:solidFill>
              <a:srgbClr val="627387"/>
            </a:solidFill>
            <a:headEnd type="none"/>
            <a:tailEnd type="triangle" w="sm" len="sm"/>
          </a:ln>
        </p:spPr>
      </p:cxnSp>
      <p:sp>
        <p:nvSpPr>
          <p:cNvPr id="46" name="配置快照样例"/>
          <p:cNvSpPr txBox="1"/>
          <p:nvPr/>
        </p:nvSpPr>
        <p:spPr>
          <a:xfrm>
            <a:off x="6464808" y="4654296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altLang="en-US" sz="1350" b="0">
                <a:solidFill>
                  <a:srgbClr val="627387"/>
                </a:solidFill>
                <a:latin typeface="Microsoft YaHei"/>
                <a:ea typeface="Microsoft YaHei"/>
              </a:rPr>
              <a:t>快照样例：接口 </a:t>
            </a:r>
            <a:r>
              <a:rPr lang="en-US" altLang="zh-CN" sz="1350" b="0">
                <a:solidFill>
                  <a:srgbClr val="627387"/>
                </a:solidFill>
                <a:latin typeface="Microsoft YaHei"/>
                <a:ea typeface="Microsoft YaHei"/>
              </a:rPr>
              <a:t>A </a:t>
            </a:r>
            <a:r>
              <a:rPr lang="zh-CN" altLang="en-US" sz="1350" b="0">
                <a:solidFill>
                  <a:srgbClr val="627387"/>
                </a:solidFill>
                <a:latin typeface="Microsoft YaHei"/>
                <a:ea typeface="Microsoft YaHei"/>
              </a:rPr>
              <a:t>描述 </a:t>
            </a:r>
            <a:r>
              <a:rPr lang="en-US" altLang="zh-CN" sz="1350" b="0">
                <a:solidFill>
                  <a:srgbClr val="627387"/>
                </a:solidFill>
                <a:latin typeface="Microsoft YaHei"/>
                <a:ea typeface="Microsoft YaHei"/>
              </a:rPr>
              <a:t>A → B</a:t>
            </a:r>
            <a:r>
              <a:rPr lang="zh-CN" altLang="en-US" sz="1350" b="0">
                <a:solidFill>
                  <a:srgbClr val="627387"/>
                </a:solidFill>
                <a:latin typeface="Microsoft YaHei"/>
                <a:ea typeface="Microsoft YaHei"/>
              </a:rPr>
              <a:t>（变化）</a:t>
            </a:r>
            <a:endParaRPr lang="zh-CN" sz="1350"/>
          </a:p>
        </p:txBody>
      </p:sp>
      <p:sp>
        <p:nvSpPr>
          <p:cNvPr id="47" name="故障验证场景"/>
          <p:cNvSpPr txBox="1"/>
          <p:nvPr/>
        </p:nvSpPr>
        <p:spPr>
          <a:xfrm>
            <a:off x="685800" y="4882896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400" b="0">
                <a:solidFill>
                  <a:srgbClr val="20364A"/>
                </a:solidFill>
                <a:latin typeface="Microsoft YaHei"/>
                <a:ea typeface="Microsoft YaHei"/>
              </a:rPr>
              <a:t>验证：异常/恢复回放，检查去重与关闭</a:t>
            </a:r>
            <a:endParaRPr lang="zh-CN" sz="1400"/>
          </a:p>
        </p:txBody>
      </p:sp>
      <p:sp>
        <p:nvSpPr>
          <p:cNvPr id="48" name="配置验证场景"/>
          <p:cNvSpPr txBox="1"/>
          <p:nvPr/>
        </p:nvSpPr>
        <p:spPr>
          <a:xfrm>
            <a:off x="6464808" y="4882896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altLang="en-US" sz="1400" b="0">
                <a:solidFill>
                  <a:srgbClr val="20364A"/>
                </a:solidFill>
                <a:latin typeface="Microsoft YaHei"/>
                <a:ea typeface="Microsoft YaHei"/>
              </a:rPr>
              <a:t>验证：两次有效快照，对比新增</a:t>
            </a:r>
            <a:r>
              <a:rPr lang="en-US" altLang="zh-CN" sz="1400" b="0">
                <a:solidFill>
                  <a:srgbClr val="20364A"/>
                </a:solidFill>
                <a:latin typeface="Microsoft YaHei"/>
                <a:ea typeface="Microsoft YaHei"/>
              </a:rPr>
              <a:t>/</a:t>
            </a:r>
            <a:r>
              <a:rPr lang="zh-CN" altLang="en-US" sz="1400" b="0">
                <a:solidFill>
                  <a:srgbClr val="20364A"/>
                </a:solidFill>
                <a:latin typeface="Microsoft YaHei"/>
                <a:ea typeface="Microsoft YaHei"/>
              </a:rPr>
              <a:t>缺失</a:t>
            </a:r>
            <a:r>
              <a:rPr lang="en-US" altLang="zh-CN" sz="1400" b="0">
                <a:solidFill>
                  <a:srgbClr val="20364A"/>
                </a:solidFill>
                <a:latin typeface="Microsoft YaHei"/>
                <a:ea typeface="Microsoft YaHei"/>
              </a:rPr>
              <a:t>/</a:t>
            </a:r>
            <a:r>
              <a:rPr lang="zh-CN" altLang="en-US" sz="1400" b="0">
                <a:solidFill>
                  <a:srgbClr val="20364A"/>
                </a:solidFill>
                <a:latin typeface="Microsoft YaHei"/>
                <a:ea typeface="Microsoft YaHei"/>
              </a:rPr>
              <a:t>变化</a:t>
            </a:r>
            <a:endParaRPr lang="zh-CN" sz="1400"/>
          </a:p>
        </p:txBody>
      </p:sp>
      <p:sp>
        <p:nvSpPr>
          <p:cNvPr id="49" name="故障判断边界"/>
          <p:cNvSpPr txBox="1"/>
          <p:nvPr/>
        </p:nvSpPr>
        <p:spPr>
          <a:xfrm>
            <a:off x="685800" y="51389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300" b="0">
                <a:solidFill>
                  <a:srgbClr val="008681"/>
                </a:solidFill>
                <a:latin typeface="Microsoft YaHei"/>
                <a:ea typeface="Microsoft YaHei"/>
              </a:rPr>
              <a:t>SNMP 超时只记查询失败，不直接判宕机</a:t>
            </a:r>
            <a:endParaRPr lang="zh-CN" sz="1300"/>
          </a:p>
        </p:txBody>
      </p:sp>
      <p:sp>
        <p:nvSpPr>
          <p:cNvPr id="50" name="配置只读边界"/>
          <p:cNvSpPr txBox="1"/>
          <p:nvPr/>
        </p:nvSpPr>
        <p:spPr>
          <a:xfrm>
            <a:off x="6464808" y="51389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300" b="0">
                <a:solidFill>
                  <a:srgbClr val="008681"/>
                </a:solidFill>
                <a:latin typeface="Microsoft YaHei"/>
                <a:ea typeface="Microsoft YaHei"/>
              </a:rPr>
              <a:t>配置只读；采集不完整时不判条目缺失</a:t>
            </a:r>
            <a:endParaRPr lang="zh-CN" sz="1300"/>
          </a:p>
        </p:txBody>
      </p:sp>
      <p:sp>
        <p:nvSpPr>
          <p:cNvPr id="51" name="依赖与协作说明条"/>
          <p:cNvSpPr/>
          <p:nvPr/>
        </p:nvSpPr>
        <p:spPr>
          <a:xfrm>
            <a:off x="457200" y="5513832"/>
            <a:ext cx="11274552" cy="667512"/>
          </a:xfrm>
          <a:prstGeom prst="roundRect">
            <a:avLst>
              <a:gd name="adj" fmla="val 65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</p:sp>
      <p:sp>
        <p:nvSpPr>
          <p:cNvPr id="52" name="当前依赖"/>
          <p:cNvSpPr txBox="1"/>
          <p:nvPr/>
        </p:nvSpPr>
        <p:spPr>
          <a:xfrm>
            <a:off x="658368" y="5586984"/>
            <a:ext cx="108813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altLang="en-US" sz="1400" b="0">
                <a:solidFill>
                  <a:srgbClr val="008681"/>
                </a:solidFill>
                <a:latin typeface="Microsoft YaHei"/>
                <a:ea typeface="Microsoft YaHei"/>
              </a:rPr>
              <a:t>当前依赖  正式凭据、设备身份、完整表采集与真实故障场景待确认</a:t>
            </a:r>
            <a:endParaRPr lang="zh-CN" sz="1400"/>
          </a:p>
        </p:txBody>
      </p:sp>
      <p:sp>
        <p:nvSpPr>
          <p:cNvPr id="53" name="协作交付"/>
          <p:cNvSpPr txBox="1"/>
          <p:nvPr/>
        </p:nvSpPr>
        <p:spPr>
          <a:xfrm>
            <a:off x="658368" y="5879592"/>
            <a:ext cx="108813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1400" b="0">
                <a:solidFill>
                  <a:srgbClr val="008681"/>
                </a:solidFill>
                <a:latin typeface="Microsoft YaHei"/>
                <a:ea typeface="Microsoft YaHei"/>
              </a:rPr>
              <a:t>协作交付  设备/快照/事件 → 蒋天乐；SNMP/ping → 元泽瑞；页面字段 → 段景瀚</a:t>
            </a:r>
            <a:endParaRPr lang="zh-CN" sz="1400"/>
          </a:p>
        </p:txBody>
      </p:sp>
    </p:spTree>
    <p:extLst>
      <p:ext uri="{BB962C8B-B14F-4D97-AF65-F5344CB8AC3E}">
        <p14:creationId xmlns:p14="http://schemas.microsoft.com/office/powerpoint/2010/main" val="134825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8681"/>
          </a:solidFill>
          <a:ln w="9525">
            <a:solidFill>
              <a:srgbClr val="00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08681"/>
                </a:solidFill>
                <a:latin typeface="Microsoft YaHei"/>
                <a:ea typeface="Microsoft YaHei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310896"/>
            <a:ext cx="3867912" cy="22860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元泽瑞 · 计划 1.5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74552" cy="57607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12263A"/>
                </a:solidFill>
                <a:latin typeface="Microsoft YaHei"/>
                <a:ea typeface="Microsoft YaHei"/>
              </a:rPr>
              <a:t>性能管理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274552" cy="29260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27387"/>
                </a:solidFill>
                <a:latin typeface="Microsoft YaHei"/>
                <a:ea typeface="Microsoft YaHei"/>
              </a:rPr>
              <a:t>延迟与丢包、端到端吞吐量、接口负载分别测量（计划功能）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55080"/>
            <a:ext cx="1127455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8686800" cy="18288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开题整合草稿 · 待组内确认 · 方案与实测分别标注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73952"/>
            <a:ext cx="2039112" cy="18288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全组第 05 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2267712"/>
            <a:ext cx="0" cy="2825496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44968" y="2267712"/>
            <a:ext cx="0" cy="2825496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1865376"/>
            <a:ext cx="3337560" cy="34747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延迟与丢包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3383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</a:rPr>
              <a:t>RTT（ms）／丢包率（%）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807208"/>
            <a:ext cx="2468880" cy="219456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27387"/>
                </a:solidFill>
                <a:latin typeface="Microsoft YaHei"/>
                <a:ea typeface="Microsoft YaHei"/>
              </a:rPr>
              <a:t>5 次探测（构造示意）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3136392"/>
            <a:ext cx="731520" cy="22860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27387"/>
                </a:solidFill>
                <a:latin typeface="Microsoft YaHei"/>
                <a:ea typeface="Microsoft YaHei"/>
              </a:rPr>
              <a:t>无响应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728" y="3145536"/>
            <a:ext cx="512064" cy="228600"/>
          </a:xfrm>
          <a:prstGeom prst="rect">
            <a:avLst/>
          </a:prstGeom>
          <a:solidFill>
            <a:srgbClr val="D7A06C"/>
          </a:solidFill>
          <a:ln w="9525">
            <a:solidFill>
              <a:srgbClr val="D7A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7943" y="3127248"/>
            <a:ext cx="320040" cy="25603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64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3557016"/>
            <a:ext cx="731520" cy="22860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27387"/>
                </a:solidFill>
                <a:latin typeface="Microsoft YaHei"/>
                <a:ea typeface="Microsoft YaHei"/>
              </a:rPr>
              <a:t>有响应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2728" y="3566160"/>
            <a:ext cx="2048256" cy="228600"/>
          </a:xfrm>
          <a:prstGeom prst="rect">
            <a:avLst/>
          </a:prstGeom>
          <a:solidFill>
            <a:srgbClr val="008F8A"/>
          </a:solidFill>
          <a:ln w="9525">
            <a:solidFill>
              <a:srgbClr val="008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547872"/>
            <a:ext cx="320040" cy="25603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64A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23944"/>
            <a:ext cx="3520440" cy="329184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08681"/>
                </a:solidFill>
                <a:latin typeface="Microsoft YaHei"/>
                <a:ea typeface="Microsoft YaHei"/>
              </a:rPr>
              <a:t>样例丢包率：1 ÷ 5 = 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90288"/>
            <a:ext cx="3474720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64A"/>
                </a:solidFill>
                <a:latin typeface="Microsoft YaHei"/>
                <a:ea typeface="Microsoft YaHei"/>
              </a:rPr>
              <a:t>复用 ping 样本，查看历史趋势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28616"/>
            <a:ext cx="3474720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27387"/>
                </a:solidFill>
                <a:latin typeface="Microsoft YaHei"/>
                <a:ea typeface="Microsoft YaHei"/>
              </a:rPr>
              <a:t>无响应保留状态，不填 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7096" y="1865376"/>
            <a:ext cx="3346704" cy="34747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端到端吞吐量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7096" y="2377440"/>
            <a:ext cx="3310128" cy="283464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</a:rPr>
              <a:t>SSH 配对运行 iperf3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15384" y="2889504"/>
            <a:ext cx="148132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081528"/>
            <a:ext cx="1289304" cy="25603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08681"/>
                </a:solidFill>
                <a:latin typeface="Microsoft YaHei"/>
                <a:ea typeface="Microsoft YaHei"/>
              </a:rPr>
              <a:t>服务端就绪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8" y="3026664"/>
            <a:ext cx="310896" cy="32004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2889504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3081528"/>
            <a:ext cx="1298448" cy="25603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08681"/>
                </a:solidFill>
                <a:latin typeface="Microsoft YaHei"/>
                <a:ea typeface="Microsoft YaHei"/>
              </a:rPr>
              <a:t>客户端启动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7096" y="3803904"/>
            <a:ext cx="3346704" cy="283464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64A"/>
                </a:solidFill>
                <a:latin typeface="Microsoft YaHei"/>
                <a:ea typeface="Microsoft YaHei"/>
              </a:rPr>
              <a:t>保存参数、状态、结果及错误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7096" y="4160520"/>
            <a:ext cx="3346704" cy="283464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64A"/>
                </a:solidFill>
                <a:latin typeface="Microsoft YaHei"/>
                <a:ea typeface="Microsoft YaHei"/>
              </a:rPr>
              <a:t>完成／失败后清理本任务进程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97096" y="4590288"/>
            <a:ext cx="3419856" cy="283464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08681"/>
                </a:solidFill>
                <a:latin typeface="Microsoft YaHei"/>
                <a:ea typeface="Microsoft YaHei"/>
              </a:rPr>
              <a:t>10/2 复测：接收约 9.92 Mbit/s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7096" y="4937760"/>
            <a:ext cx="3346704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27387"/>
                </a:solidFill>
                <a:latin typeface="Microsoft YaHei"/>
                <a:ea typeface="Microsoft YaHei"/>
              </a:rPr>
              <a:t>2 秒、限速 10 Mbit/s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1865376"/>
            <a:ext cx="3675887" cy="34747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接口方向速率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2377440"/>
            <a:ext cx="3675887" cy="283464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</a:rPr>
              <a:t>SNMP 字节计数有效差分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2761488"/>
            <a:ext cx="2487168" cy="21031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27387"/>
                </a:solidFill>
                <a:latin typeface="Microsoft YaHei"/>
                <a:ea typeface="Microsoft YaHei"/>
              </a:rPr>
              <a:t>收发速率／Mbit/s（示意）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2980944"/>
            <a:ext cx="402336" cy="20116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1.2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94192" y="3054096"/>
            <a:ext cx="3246120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982712" y="3328416"/>
            <a:ext cx="402336" cy="20116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0.6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394192" y="3401568"/>
            <a:ext cx="3246120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82712" y="3675887"/>
            <a:ext cx="402336" cy="20116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0.0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94192" y="3749039"/>
            <a:ext cx="3246120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540496" y="3191256"/>
            <a:ext cx="713232" cy="210312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53728" y="3191256"/>
            <a:ext cx="713232" cy="137160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66960" y="3328416"/>
            <a:ext cx="713232" cy="45720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680192" y="3273552"/>
            <a:ext cx="713232" cy="100584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540496" y="3520440"/>
            <a:ext cx="713232" cy="82296"/>
          </a:xfrm>
          <a:prstGeom prst="line">
            <a:avLst/>
          </a:prstGeom>
          <a:ln w="25400">
            <a:solidFill>
              <a:srgbClr val="80A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253728" y="3520440"/>
            <a:ext cx="713232" cy="64008"/>
          </a:xfrm>
          <a:prstGeom prst="line">
            <a:avLst/>
          </a:prstGeom>
          <a:ln w="25400">
            <a:solidFill>
              <a:srgbClr val="80A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966960" y="3584448"/>
            <a:ext cx="713232" cy="45720"/>
          </a:xfrm>
          <a:prstGeom prst="line">
            <a:avLst/>
          </a:prstGeom>
          <a:ln w="25400">
            <a:solidFill>
              <a:srgbClr val="80A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680192" y="3547872"/>
            <a:ext cx="713232" cy="82296"/>
          </a:xfrm>
          <a:prstGeom prst="line">
            <a:avLst/>
          </a:prstGeom>
          <a:ln w="25400">
            <a:solidFill>
              <a:srgbClr val="80A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449056" y="3877056"/>
            <a:ext cx="365760" cy="20116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62738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8" y="3877056"/>
            <a:ext cx="365760" cy="20116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62738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3877056"/>
            <a:ext cx="365760" cy="20116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627387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88752" y="3877056"/>
            <a:ext cx="365760" cy="20116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627387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01984" y="3877056"/>
            <a:ext cx="365760" cy="20116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627387"/>
                </a:solidFill>
                <a:latin typeface="Microsoft YaHei"/>
                <a:ea typeface="Microsoft YaHei"/>
              </a:rPr>
              <a:t>20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308592" y="4169663"/>
            <a:ext cx="301752" cy="0"/>
          </a:xfrm>
          <a:prstGeom prst="line">
            <a:avLst/>
          </a:prstGeom>
          <a:ln w="25400">
            <a:solidFill>
              <a:srgbClr val="008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683496" y="4087368"/>
            <a:ext cx="274320" cy="219456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27387"/>
                </a:solidFill>
                <a:latin typeface="Microsoft YaHei"/>
                <a:ea typeface="Microsoft YaHei"/>
              </a:rPr>
              <a:t>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186416" y="4169663"/>
            <a:ext cx="301752" cy="0"/>
          </a:xfrm>
          <a:prstGeom prst="line">
            <a:avLst/>
          </a:prstGeom>
          <a:ln w="25400">
            <a:solidFill>
              <a:srgbClr val="80A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561320" y="4087368"/>
            <a:ext cx="274320" cy="219456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27387"/>
                </a:solidFill>
                <a:latin typeface="Microsoft YaHei"/>
                <a:ea typeface="Microsoft YaHei"/>
              </a:rPr>
              <a:t>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73568" y="4462272"/>
            <a:ext cx="3675887" cy="25603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64A"/>
                </a:solidFill>
                <a:latin typeface="Microsoft YaHei"/>
                <a:ea typeface="Microsoft YaHei"/>
              </a:rPr>
              <a:t>两次有效采样；首次／复位无效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73568" y="4855464"/>
            <a:ext cx="3675887" cy="25603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27387"/>
                </a:solidFill>
                <a:latin typeface="Microsoft YaHei"/>
                <a:ea typeface="Microsoft YaHei"/>
              </a:rPr>
              <a:t>本次 ens3 参考速率为 0，利用率未知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349240"/>
            <a:ext cx="11274552" cy="475488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" y="5449824"/>
            <a:ext cx="10753344" cy="310896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08681"/>
                </a:solidFill>
                <a:latin typeface="Microsoft YaHei"/>
                <a:ea typeface="Microsoft YaHei"/>
              </a:rPr>
              <a:t>速率（bit/s） = 8 × 有效字节增量 ÷ 实际采样秒数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5980176"/>
            <a:ext cx="11155680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27387"/>
                </a:solidFill>
                <a:latin typeface="Microsoft YaHei"/>
                <a:ea typeface="Microsoft YaHei"/>
              </a:rPr>
              <a:t>验收：受控传输、独立算例与任务清理；限速短测不代表最大带宽。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8681"/>
          </a:solidFill>
          <a:ln w="9525">
            <a:solidFill>
              <a:srgbClr val="00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08681"/>
                </a:solidFill>
                <a:latin typeface="Microsoft YaHei"/>
                <a:ea typeface="Microsoft YaHei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310896"/>
            <a:ext cx="3867912" cy="22860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元泽瑞 · 计划 1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74552" cy="57607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12263A"/>
                </a:solidFill>
                <a:latin typeface="Microsoft YaHei"/>
                <a:ea typeface="Microsoft YaHei"/>
              </a:rPr>
              <a:t>计费管理：方向流量统计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274552" cy="29260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27387"/>
                </a:solidFill>
                <a:latin typeface="Microsoft YaHei"/>
                <a:ea typeface="Microsoft YaHei"/>
              </a:rPr>
              <a:t>明确观测点与时间窗口，只累计有效增量（计划功能）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55080"/>
            <a:ext cx="1127455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8686800" cy="18288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开题整合草稿 · 待组内确认 · 方案与实测分别标注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73952"/>
            <a:ext cx="2039112" cy="18288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全组第 06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65376"/>
            <a:ext cx="3273552" cy="34747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01  接口采样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68296"/>
            <a:ext cx="3337560" cy="22860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27387"/>
                </a:solidFill>
                <a:latin typeface="Microsoft YaHei"/>
                <a:ea typeface="Microsoft YaHei"/>
              </a:rPr>
              <a:t>同一接口 · 构造算例（byte）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825496"/>
          <a:ext cx="3273552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70432"/>
                <a:gridCol w="1188720"/>
              </a:tblGrid>
              <a:tr h="52425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累计值</a:t>
                      </a:r>
                    </a:p>
                  </a:txBody>
                  <a:tcPr marL="91440" marR="91440" marT="73152" marB="73152">
                    <a:solidFill>
                      <a:srgbClr val="0086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0 秒</a:t>
                      </a:r>
                    </a:p>
                  </a:txBody>
                  <a:tcPr marL="91440" marR="91440" marT="73152" marB="73152">
                    <a:solidFill>
                      <a:srgbClr val="0086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5 秒</a:t>
                      </a:r>
                    </a:p>
                  </a:txBody>
                  <a:tcPr marL="91440" marR="91440" marT="73152" marB="73152">
                    <a:solidFill>
                      <a:srgbClr val="008681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入方向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1,000,000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1,625,000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出方向</a:t>
                      </a:r>
                    </a:p>
                  </a:txBody>
                  <a:tcPr marL="91440" marR="91440" marT="73152" marB="7315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2,000,000</a:t>
                      </a:r>
                    </a:p>
                  </a:txBody>
                  <a:tcPr marL="91440" marR="91440" marT="73152" marB="7315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2,312,500</a:t>
                      </a:r>
                    </a:p>
                  </a:txBody>
                  <a:tcPr marL="91440" marR="91440" marT="73152" marB="73152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608576"/>
            <a:ext cx="3511296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64A"/>
                </a:solidFill>
                <a:latin typeface="Microsoft YaHei"/>
                <a:ea typeface="Microsoft YaHei"/>
              </a:rPr>
              <a:t>观测点：接口或确认的子网边界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56048"/>
            <a:ext cx="3511296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27387"/>
                </a:solidFill>
                <a:latin typeface="Microsoft YaHei"/>
                <a:ea typeface="Microsoft YaHei"/>
              </a:rPr>
              <a:t>窗口：5 秒，入／出方向分开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474720"/>
            <a:ext cx="347472" cy="32004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1865376"/>
            <a:ext cx="3063240" cy="34747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02  有效差分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2532888"/>
            <a:ext cx="3163824" cy="283464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</a:rPr>
              <a:t>结束计数 − 起始计数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7096" y="3172968"/>
            <a:ext cx="3163824" cy="38404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008681"/>
                </a:solidFill>
                <a:latin typeface="Microsoft YaHei"/>
                <a:ea typeface="Microsoft YaHei"/>
              </a:rPr>
              <a:t>入  625,000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3675887"/>
            <a:ext cx="3163824" cy="38404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779AB0"/>
                </a:solidFill>
                <a:latin typeface="Microsoft YaHei"/>
                <a:ea typeface="Microsoft YaHei"/>
              </a:rPr>
              <a:t>出  312,500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7096" y="4315968"/>
            <a:ext cx="3108960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27387"/>
                </a:solidFill>
                <a:latin typeface="Microsoft YaHei"/>
                <a:ea typeface="Microsoft YaHei"/>
              </a:rPr>
              <a:t>× 8 ÷ 5 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7096" y="4718304"/>
            <a:ext cx="3163824" cy="34747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20364A"/>
                </a:solidFill>
                <a:latin typeface="Microsoft YaHei"/>
                <a:ea typeface="Microsoft YaHei"/>
              </a:rPr>
              <a:t>1／0.5 Mbit/s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3474720"/>
            <a:ext cx="347472" cy="32004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1865376"/>
            <a:ext cx="4059936" cy="34747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08681"/>
                </a:solidFill>
                <a:latin typeface="Microsoft YaHei"/>
                <a:ea typeface="Microsoft YaHei"/>
              </a:rPr>
              <a:t>03  窗口报表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542032"/>
            <a:ext cx="2286000" cy="283464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</a:rPr>
              <a:t>方向流量／kB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273552"/>
            <a:ext cx="411480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090672"/>
            <a:ext cx="1280160" cy="457200"/>
          </a:xfrm>
          <a:prstGeom prst="rect">
            <a:avLst/>
          </a:prstGeom>
          <a:solidFill>
            <a:srgbClr val="91B8B7"/>
          </a:solidFill>
          <a:ln w="9525">
            <a:solidFill>
              <a:srgbClr val="91B8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64624" y="3163824"/>
            <a:ext cx="914400" cy="25603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20364A"/>
                </a:solidFill>
                <a:latin typeface="Microsoft YaHei"/>
                <a:ea typeface="Microsoft YaHei"/>
              </a:rPr>
              <a:t>312.5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4023360"/>
            <a:ext cx="411480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64A"/>
                </a:solidFill>
                <a:latin typeface="Microsoft YaHei"/>
                <a:ea typeface="Microsoft YaHei"/>
              </a:rPr>
              <a:t>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3840480"/>
            <a:ext cx="2542032" cy="457200"/>
          </a:xfrm>
          <a:prstGeom prst="rect">
            <a:avLst/>
          </a:prstGeom>
          <a:solidFill>
            <a:srgbClr val="008681"/>
          </a:solidFill>
          <a:ln w="9525">
            <a:solidFill>
              <a:srgbClr val="00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8208" y="3913632"/>
            <a:ext cx="914400" cy="256032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20364A"/>
                </a:solidFill>
                <a:latin typeface="Microsoft YaHei"/>
                <a:ea typeface="Microsoft YaHei"/>
              </a:rPr>
              <a:t>625.0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6" y="4965192"/>
            <a:ext cx="4014215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27387"/>
                </a:solidFill>
                <a:latin typeface="Microsoft YaHei"/>
                <a:ea typeface="Microsoft YaHei"/>
              </a:rPr>
              <a:t>样例完整性 100%；1 kB = 1000 byte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30952"/>
            <a:ext cx="11091672" cy="246888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64A"/>
                </a:solidFill>
                <a:latin typeface="Microsoft YaHei"/>
                <a:ea typeface="Microsoft YaHei"/>
              </a:rPr>
              <a:t>主机对精确归属需要额外流记录或抓包支持。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32704"/>
            <a:ext cx="11274552" cy="566928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50992"/>
            <a:ext cx="10908792" cy="27432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08681"/>
                </a:solidFill>
                <a:latin typeface="Microsoft YaHei"/>
                <a:ea typeface="Microsoft YaHei"/>
              </a:rPr>
              <a:t>计划：时间筛选、流量汇总与完整性、CSV 导出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61888"/>
            <a:ext cx="10908792" cy="182880"/>
          </a:xfrm>
          <a:prstGeom prst="rect">
            <a:avLst/>
          </a:prstGeom>
          <a:noFill/>
        </p:spPr>
        <p:txBody>
          <a:bodyPr wrap="square" lIns="13716" rIns="13716" tIns="9144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64A"/>
                </a:solidFill>
                <a:latin typeface="Microsoft YaHei"/>
                <a:ea typeface="Microsoft YaHei"/>
              </a:rPr>
              <a:t>验收：独立算例，页面与 CSV 一致；排除复位、标明缺口，避免多跳重复累计。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300" b="0">
                <a:solidFill>
                  <a:srgbClr val="617386"/>
                </a:solidFill>
                <a:latin typeface="微软雅黑"/>
                <a:ea typeface="微软雅黑"/>
                <a:cs typeface="微软雅黑"/>
              </a:rPr>
              <a:t>段景瀚  ·  计划 1.5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473952"/>
            <a:ext cx="11320272" cy="12700"/>
          </a:xfrm>
          <a:prstGeom prst="rect">
            <a:avLst/>
          </a:prstGeom>
          <a:solidFill>
            <a:srgbClr val="D5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6528816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617386"/>
                </a:solidFill>
                <a:latin typeface="微软雅黑"/>
                <a:ea typeface="微软雅黑"/>
                <a:cs typeface="微软雅黑"/>
              </a:rPr>
              <a:t>开题整合草稿  ·  待组内确认  ·  方案与实测分别标注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28816"/>
            <a:ext cx="334670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>
                <a:solidFill>
                  <a:srgbClr val="617386"/>
                </a:solidFill>
                <a:latin typeface="微软雅黑"/>
                <a:ea typeface="微软雅黑"/>
                <a:cs typeface="微软雅黑"/>
              </a:rPr>
              <a:t>全组第 07 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122539"/>
                </a:solidFill>
                <a:latin typeface="微软雅黑"/>
                <a:ea typeface="微软雅黑"/>
                <a:cs typeface="微软雅黑"/>
              </a:rPr>
              <a:t>安全管理：风险线索与证据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50976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>
                <a:solidFill>
                  <a:srgbClr val="617386"/>
                </a:solidFill>
                <a:latin typeface="微软雅黑"/>
                <a:ea typeface="微软雅黑"/>
                <a:cs typeface="微软雅黑"/>
              </a:rPr>
              <a:t>服务变化 + 异常流量；结论与现有证据一致。右侧为预期界面样例，不是已测到的事件。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89888"/>
            <a:ext cx="5532120" cy="3913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0000" dist="22000" dir="2700000" algn="tl" rotWithShape="0">
              <a:srgbClr val="1230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73152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方法、规则与验收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服务基线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已确认目标与允许端口；Python TCP 连接检测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需要识别服务时，仅在 DEV 做有限 Nmap 扫描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异常流量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复用性能模块指标，不另做一套流量采集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持续超过阈值，或偏离历史基线，才生成线索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记录与验收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目标、时间、规则、证据、状态；去重并追踪恢复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DEV 上新增再撤除临时服务；样例与实时结果分开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389888"/>
            <a:ext cx="5614416" cy="3913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0000" dist="22000" dir="2700000" algn="tl" rotWithShape="0">
              <a:srgbClr val="1230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预期界面  ·  样例数据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993392"/>
            <a:ext cx="5175504" cy="347472"/>
          </a:xfrm>
          <a:prstGeom prst="roundRect">
            <a:avLst>
              <a:gd name="adj" fmla="val 8000"/>
            </a:avLst>
          </a:prstGeom>
          <a:solidFill>
            <a:srgbClr val="008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2039112"/>
            <a:ext cx="1188719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039112"/>
            <a:ext cx="97840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039112"/>
            <a:ext cx="202996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3928" y="203911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340864"/>
            <a:ext cx="5175504" cy="530352"/>
          </a:xfrm>
          <a:prstGeom prst="roundRect">
            <a:avLst>
              <a:gd name="adj" fmla="val 4000"/>
            </a:avLst>
          </a:prstGeom>
          <a:solidFill>
            <a:srgbClr val="ED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2450592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非预期端口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450592"/>
            <a:ext cx="96011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示例端点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450592"/>
            <a:ext cx="20116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样例：允许 22 外的 8081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3928" y="2450592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待确认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2871216"/>
            <a:ext cx="5175504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2980944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持续异常流量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980944"/>
            <a:ext cx="96011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示例接口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2980944"/>
            <a:ext cx="20116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窗口内高于阈值（样例）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3928" y="2980944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待确认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3511296"/>
            <a:ext cx="5175504" cy="1536192"/>
          </a:xfrm>
          <a:prstGeom prst="roundRect">
            <a:avLst>
              <a:gd name="adj" fmla="val 8000"/>
            </a:avLst>
          </a:prstGeom>
          <a:solidFill>
            <a:srgbClr val="F7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73152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22539"/>
                </a:solidFill>
                <a:latin typeface="微软雅黑"/>
                <a:ea typeface="微软雅黑"/>
                <a:cs typeface="微软雅黑"/>
              </a:rPr>
              <a:t>未确认漏洞、攻击类型或攻击源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服务版本和流量增减只作为线索。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探测失败记为未确认，不写成端口关闭，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也不写成目标不存在。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5449824"/>
            <a:ext cx="11320272" cy="877824"/>
          </a:xfrm>
          <a:prstGeom prst="roundRect">
            <a:avLst>
              <a:gd name="adj" fmla="val 8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攻击源定位需要额外数据：可读日志、流记录，或老师指定位置的抓包权限。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当前 test-user 无 root。没有这些证据时，只交付可核对的风险线索，不凭接口总量判断攻击源。</a:t>
            </a:r>
          </a:p>
        </p:txBody>
      </p:sp>
    </p:spTree>
    <p:extLst>
      <p:ext uri="{BB962C8B-B14F-4D97-AF65-F5344CB8AC3E}">
        <p14:creationId xmlns:p14="http://schemas.microsoft.com/office/powerpoint/2010/main" val="414569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300" b="0">
                <a:solidFill>
                  <a:srgbClr val="617386"/>
                </a:solidFill>
                <a:latin typeface="微软雅黑"/>
                <a:ea typeface="微软雅黑"/>
                <a:cs typeface="微软雅黑"/>
              </a:rPr>
              <a:t>段景瀚  ·  计划 0.5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473952"/>
            <a:ext cx="11320272" cy="12700"/>
          </a:xfrm>
          <a:prstGeom prst="rect">
            <a:avLst/>
          </a:prstGeom>
          <a:solidFill>
            <a:srgbClr val="D5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6528816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617386"/>
                </a:solidFill>
                <a:latin typeface="微软雅黑"/>
                <a:ea typeface="微软雅黑"/>
                <a:cs typeface="微软雅黑"/>
              </a:rPr>
              <a:t>开题整合草稿  ·  待组内确认  ·  方案与实测分别标注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28816"/>
            <a:ext cx="3346704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>
                <a:solidFill>
                  <a:srgbClr val="617386"/>
                </a:solidFill>
                <a:latin typeface="微软雅黑"/>
                <a:ea typeface="微软雅黑"/>
                <a:cs typeface="微软雅黑"/>
              </a:rPr>
              <a:t>全组第 08 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75488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122539"/>
                </a:solidFill>
                <a:latin typeface="微软雅黑"/>
                <a:ea typeface="微软雅黑"/>
                <a:cs typeface="微软雅黑"/>
              </a:rPr>
              <a:t>前期验证：WSL 复测摘要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50976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>
                <a:solidFill>
                  <a:srgbClr val="617386"/>
                </a:solidFill>
                <a:latin typeface="微软雅黑"/>
                <a:ea typeface="微软雅黑"/>
                <a:cs typeface="微软雅黑"/>
              </a:rPr>
              <a:t>10 月 2 日从 WSL 重新登录；表内短测只代表当次与该方向。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89888"/>
            <a:ext cx="11320272" cy="384048"/>
          </a:xfrm>
          <a:prstGeom prst="roundRect">
            <a:avLst>
              <a:gd name="adj" fmla="val 6000"/>
            </a:avLst>
          </a:prstGeom>
          <a:solidFill>
            <a:srgbClr val="008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" y="144475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2536" y="1444752"/>
            <a:ext cx="562355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本次 WSL 实测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5" y="1444752"/>
            <a:ext cx="352043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773936"/>
            <a:ext cx="11320272" cy="530352"/>
          </a:xfrm>
          <a:prstGeom prst="roundRect">
            <a:avLst>
              <a:gd name="adj" fmla="val 4000"/>
            </a:avLst>
          </a:prstGeom>
          <a:solidFill>
            <a:srgbClr val="ED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" y="1883664"/>
            <a:ext cx="1197864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SSH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2536" y="1883664"/>
            <a:ext cx="558698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本次 WSL 登录 DEV 与三台主机成功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5" y="1883664"/>
            <a:ext cx="348386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zh-CN" altLang="en-US"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三台内网主机工具已核验；仅当次</a:t>
            </a:r>
            <a:endParaRPr sz="1300" b="0">
              <a:solidFill>
                <a:srgbClr val="1F364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8912" y="2304288"/>
            <a:ext cx="11320272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2414016"/>
            <a:ext cx="1197864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2536" y="2414016"/>
            <a:ext cx="558698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本次 DEV 对三台各 2 包，均 0% 丢包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8975" y="2414016"/>
            <a:ext cx="348386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仅当次短测，不是长期可用率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2834640"/>
            <a:ext cx="11320272" cy="530352"/>
          </a:xfrm>
          <a:prstGeom prst="roundRect">
            <a:avLst>
              <a:gd name="adj" fmla="val 4000"/>
            </a:avLst>
          </a:prstGeom>
          <a:solidFill>
            <a:srgbClr val="ED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5216" y="2944368"/>
            <a:ext cx="1197864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iperf3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2536" y="2944368"/>
            <a:ext cx="558698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本次三台 /usr/bin/iperf3 均为 3.1.3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8975" y="2944368"/>
            <a:ext cx="348386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一次性服务端与客户端配对完成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3364992"/>
            <a:ext cx="11320272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6" y="3474720"/>
            <a:ext cx="1197864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传输短测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2536" y="3474720"/>
            <a:ext cx="558698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192.168.1.1 → 192.168.2.1；2 秒、10 Mbit/s；接收约 9.92 Mbit/s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8975" y="3474720"/>
            <a:ext cx="348386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这一对端点的 TCP 测试能完成；不是最大带宽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3895344"/>
            <a:ext cx="11320272" cy="530352"/>
          </a:xfrm>
          <a:prstGeom prst="roundRect">
            <a:avLst>
              <a:gd name="adj" fmla="val 4000"/>
            </a:avLst>
          </a:prstGeom>
          <a:solidFill>
            <a:srgbClr val="ED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" y="4005072"/>
            <a:ext cx="1197864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账号权限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2536" y="4005072"/>
            <a:ext cx="558698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三台主机均为 uid=1001(test-user)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8975" y="4005072"/>
            <a:ext cx="348386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zh-CN" altLang="en-US"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无 </a:t>
            </a:r>
            <a:r>
              <a:rPr lang="en-US" altLang="zh-CN"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root</a:t>
            </a:r>
            <a:r>
              <a:rPr lang="zh-CN" altLang="en-US" sz="13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；特权抓包条件待确认</a:t>
            </a:r>
            <a:endParaRPr sz="1300" b="0">
              <a:solidFill>
                <a:srgbClr val="1F364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38912" y="4553712"/>
            <a:ext cx="5532120" cy="1719072"/>
          </a:xfrm>
          <a:prstGeom prst="roundRect">
            <a:avLst>
              <a:gd name="adj" fmla="val 8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SNMP 抽样验证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四地址接口/路由 OID 已返回。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小范围 GETNEXT/GETBULK 成功；速率 OID 为 0。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正式凭据及设备身份仍待确认。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4553712"/>
            <a:ext cx="5614416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2000" dir="2700000" algn="tl" rotWithShape="0">
              <a:srgbClr val="1230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8581"/>
                </a:solidFill>
                <a:latin typeface="微软雅黑"/>
                <a:ea typeface="微软雅黑"/>
                <a:cs typeface="微软雅黑"/>
              </a:rPr>
              <a:t>尚未完成，不要讲成已完成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服务基线、风险规则尚未实现；本机仅有样例页面。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649"/>
                </a:solidFill>
                <a:latin typeface="微软雅黑"/>
                <a:ea typeface="微软雅黑"/>
                <a:cs typeface="微软雅黑"/>
              </a:rPr>
              <a:t>限速短测不能代表最大带宽或安全检测。</a:t>
            </a:r>
          </a:p>
        </p:txBody>
      </p:sp>
    </p:spTree>
    <p:extLst>
      <p:ext uri="{BB962C8B-B14F-4D97-AF65-F5344CB8AC3E}">
        <p14:creationId xmlns:p14="http://schemas.microsoft.com/office/powerpoint/2010/main" val="943535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8681"/>
          </a:solidFill>
          <a:ln w="9525">
            <a:solidFill>
              <a:srgbClr val="00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08681"/>
                </a:solidFill>
                <a:latin typeface="Microsoft YaHei"/>
                <a:ea typeface="Microsoft YaHei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310896"/>
            <a:ext cx="3867912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蒋天乐 · 计划 1.5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74552" cy="5760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12263A"/>
                </a:solidFill>
                <a:latin typeface="Microsoft YaHei"/>
                <a:ea typeface="Microsoft YaHei"/>
              </a:rPr>
              <a:t>四人分工与时间计划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274552" cy="29260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27387"/>
                </a:solidFill>
                <a:latin typeface="Microsoft YaHei"/>
                <a:ea typeface="Microsoft YaHei"/>
              </a:rPr>
              <a:t>业务负责人交完整模块，公共约定先于联调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55080"/>
            <a:ext cx="1127455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8686800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开题整合草稿 · 待组内确认 · 方案与实测分别标注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73952"/>
            <a:ext cx="2039112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全组第 09 页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837943"/>
          <a:ext cx="11274551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15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成员</a:t>
                      </a:r>
                    </a:p>
                  </a:txBody>
                  <a:tcPr marT="73152" marB="73152">
                    <a:solidFill>
                      <a:srgbClr val="0086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主要职责</a:t>
                      </a:r>
                    </a:p>
                  </a:txBody>
                  <a:tcPr marT="73152" marB="73152">
                    <a:solidFill>
                      <a:srgbClr val="0086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协作交付</a:t>
                      </a:r>
                    </a:p>
                  </a:txBody>
                  <a:tcPr marT="73152" marB="73152">
                    <a:solidFill>
                      <a:srgbClr val="0086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15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蒋天乐</a:t>
                      </a:r>
                    </a:p>
                  </a:txBody>
                  <a:tcPr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架构、公共基础、DEV 集成</a:t>
                      </a:r>
                    </a:p>
                  </a:txBody>
                  <a:tcPr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约定／存储／调度入口</a:t>
                      </a:r>
                    </a:p>
                  </a:txBody>
                  <a:tcPr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15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金海</a:t>
                      </a:r>
                    </a:p>
                  </a:txBody>
                  <a:tcPr marT="73152" marB="7315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故障、配置、SNMP / ping</a:t>
                      </a:r>
                    </a:p>
                  </a:txBody>
                  <a:tcPr marT="73152" marB="7315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设备／接口／事件</a:t>
                      </a:r>
                    </a:p>
                  </a:txBody>
                  <a:tcPr marT="73152" marB="73152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15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元泽瑞</a:t>
                      </a:r>
                    </a:p>
                  </a:txBody>
                  <a:tcPr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性能、计费、测试任务</a:t>
                      </a:r>
                    </a:p>
                  </a:txBody>
                  <a:tcPr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指标／流量／CSV</a:t>
                      </a:r>
                    </a:p>
                  </a:txBody>
                  <a:tcPr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15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段景瀚</a:t>
                      </a:r>
                    </a:p>
                  </a:txBody>
                  <a:tcPr marT="73152" marB="7315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安全、公共组件与界面</a:t>
                      </a:r>
                    </a:p>
                  </a:txBody>
                  <a:tcPr marT="73152" marB="7315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64A"/>
                          </a:solidFill>
                          <a:latin typeface="Microsoft YaHei"/>
                          <a:ea typeface="Microsoft YaHei"/>
                        </a:rPr>
                        <a:t>风险／公共布局与图表</a:t>
                      </a:r>
                    </a:p>
                  </a:txBody>
                  <a:tcPr marT="73152" marB="73152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4828032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2359152" cy="26517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08681"/>
                </a:solidFill>
                <a:latin typeface="Microsoft YaHei"/>
                <a:ea typeface="Microsoft YaHei"/>
              </a:rPr>
              <a:t>第 1–2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76672"/>
            <a:ext cx="2359152" cy="21945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64A"/>
                </a:solidFill>
                <a:latin typeface="Microsoft YaHei"/>
                <a:ea typeface="Microsoft YaHei"/>
              </a:rPr>
              <a:t>基础／真实采集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828032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4974336"/>
            <a:ext cx="2359152" cy="26517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08681"/>
                </a:solidFill>
                <a:latin typeface="Microsoft YaHei"/>
                <a:ea typeface="Microsoft YaHei"/>
              </a:rPr>
              <a:t>第 3–6 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376672"/>
            <a:ext cx="2359152" cy="21945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64A"/>
                </a:solidFill>
                <a:latin typeface="Microsoft YaHei"/>
                <a:ea typeface="Microsoft YaHei"/>
              </a:rPr>
              <a:t>五项模块开发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828032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974336"/>
            <a:ext cx="2359152" cy="26517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08681"/>
                </a:solidFill>
                <a:latin typeface="Microsoft YaHei"/>
                <a:ea typeface="Microsoft YaHei"/>
              </a:rPr>
              <a:t>第 7–8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376672"/>
            <a:ext cx="2359152" cy="21945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64A"/>
                </a:solidFill>
                <a:latin typeface="Microsoft YaHei"/>
                <a:ea typeface="Microsoft YaHei"/>
              </a:rPr>
              <a:t>联调／DEV 部署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4828032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4974336"/>
            <a:ext cx="2359152" cy="26517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08681"/>
                </a:solidFill>
                <a:latin typeface="Microsoft YaHei"/>
                <a:ea typeface="Microsoft YaHei"/>
              </a:rPr>
              <a:t>第 9–10 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376672"/>
            <a:ext cx="2359152" cy="21945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64A"/>
                </a:solidFill>
                <a:latin typeface="Microsoft YaHei"/>
                <a:ea typeface="Microsoft YaHei"/>
              </a:rPr>
              <a:t>验收／修复交付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43600"/>
            <a:ext cx="11155680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27387"/>
                </a:solidFill>
                <a:latin typeface="Microsoft YaHei"/>
                <a:ea typeface="Microsoft YaHei"/>
              </a:rPr>
              <a:t>预计 9–10 周：第 9 周验收核心流程，第 10 周修复交付；正式截止待公布。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8681"/>
          </a:solidFill>
          <a:ln w="9525">
            <a:solidFill>
              <a:srgbClr val="00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08681"/>
                </a:solidFill>
                <a:latin typeface="Microsoft YaHei"/>
                <a:ea typeface="Microsoft YaHei"/>
              </a:rPr>
              <a:t>第 2 组  /  10 月 13 日开题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310896"/>
            <a:ext cx="3867912" cy="22860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27387"/>
                </a:solidFill>
                <a:latin typeface="Microsoft YaHei"/>
                <a:ea typeface="Microsoft YaHei"/>
              </a:rPr>
              <a:t>蒋天乐 · 计划 0.5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74552" cy="576072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12263A"/>
                </a:solidFill>
                <a:latin typeface="Microsoft YaHei"/>
                <a:ea typeface="Microsoft YaHei"/>
              </a:rPr>
              <a:t>希望交流的问题与支持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274552" cy="292608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27387"/>
                </a:solidFill>
                <a:latin typeface="Microsoft YaHei"/>
                <a:ea typeface="Microsoft YaHei"/>
              </a:rPr>
              <a:t>优先确认会改变实现方案的三项条件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55080"/>
            <a:ext cx="11274552" cy="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8686800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开题整合草稿 · 待组内确认 · 方案与实测分别标注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73952"/>
            <a:ext cx="2039112" cy="18288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27387"/>
                </a:solidFill>
                <a:latin typeface="Microsoft YaHei"/>
                <a:ea typeface="Microsoft YaHei"/>
              </a:rPr>
              <a:t>全组第 10 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38528"/>
            <a:ext cx="3575304" cy="3483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2157984"/>
            <a:ext cx="3108960" cy="58521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4000" b="1">
                <a:solidFill>
                  <a:srgbClr val="008681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026664"/>
            <a:ext cx="3108960" cy="40233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2263A"/>
                </a:solidFill>
                <a:latin typeface="Microsoft YaHei"/>
                <a:ea typeface="Microsoft YaHei"/>
              </a:rPr>
              <a:t>SNMP 访问条件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813048"/>
            <a:ext cx="3108960" cy="119786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64A"/>
                </a:solidFill>
                <a:latin typeface="Microsoft YaHei"/>
                <a:ea typeface="Microsoft YaHei"/>
              </a:rPr>
              <a:t>正式凭据如何确认？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64A"/>
                </a:solidFill>
                <a:latin typeface="Microsoft YaHei"/>
                <a:ea typeface="Microsoft YaHei"/>
              </a:rPr>
              <a:t>设备身份如何对应？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64A"/>
                </a:solidFill>
                <a:latin typeface="Microsoft YaHei"/>
                <a:ea typeface="Microsoft YaHei"/>
              </a:rPr>
              <a:t>接口速率如何取得？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1938528"/>
            <a:ext cx="3575304" cy="3483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157984"/>
            <a:ext cx="3108960" cy="58521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4000" b="1">
                <a:solidFill>
                  <a:srgbClr val="008681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26664"/>
            <a:ext cx="3108960" cy="40233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2263A"/>
                </a:solidFill>
                <a:latin typeface="Microsoft YaHei"/>
                <a:ea typeface="Microsoft YaHei"/>
              </a:rPr>
              <a:t>流量统计粒度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813048"/>
            <a:ext cx="3108960" cy="119786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64A"/>
                </a:solidFill>
                <a:latin typeface="Microsoft YaHei"/>
                <a:ea typeface="Microsoft YaHei"/>
              </a:rPr>
              <a:t>接口／边界是否满足？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64A"/>
                </a:solidFill>
                <a:latin typeface="Microsoft YaHei"/>
                <a:ea typeface="Microsoft YaHei"/>
              </a:rPr>
              <a:t>若要求主机对归属，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64A"/>
                </a:solidFill>
                <a:latin typeface="Microsoft YaHei"/>
                <a:ea typeface="Microsoft YaHei"/>
              </a:rPr>
              <a:t>能提供哪些数据？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938528"/>
            <a:ext cx="3575304" cy="3483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2157984"/>
            <a:ext cx="3108960" cy="58521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4000" b="1">
                <a:solidFill>
                  <a:srgbClr val="008681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026664"/>
            <a:ext cx="3108960" cy="402336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2263A"/>
                </a:solidFill>
                <a:latin typeface="Microsoft YaHei"/>
                <a:ea typeface="Microsoft YaHei"/>
              </a:rPr>
              <a:t>安全验收深度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813048"/>
            <a:ext cx="3108960" cy="1197864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64A"/>
                </a:solidFill>
                <a:latin typeface="Microsoft YaHei"/>
                <a:ea typeface="Microsoft YaHei"/>
              </a:rPr>
              <a:t>风险提示是否满足？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64A"/>
                </a:solidFill>
                <a:latin typeface="Microsoft YaHei"/>
                <a:ea typeface="Microsoft YaHei"/>
              </a:rPr>
              <a:t>若需攻击源定位，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64A"/>
                </a:solidFill>
                <a:latin typeface="Microsoft YaHei"/>
                <a:ea typeface="Microsoft YaHei"/>
              </a:rPr>
              <a:t>可提供日志／流记录吗？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11064240" cy="32004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627387"/>
                </a:solidFill>
                <a:latin typeface="Microsoft YaHei"/>
                <a:ea typeface="Microsoft YaHei"/>
              </a:rPr>
              <a:t>备用：最终截止与提交物 · DEV 部署 · 故障与压力测试范围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1836</Words>
  <Application>Microsoft Office PowerPoint</Application>
  <PresentationFormat>宽屏</PresentationFormat>
  <Paragraphs>319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微软雅黑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第2组：实验网络管理系统开题草稿</dc:title>
  <dc:subject>10月13日开题：四个问题、五项管理功能</dc:subject>
  <dc:creator>第2组：蒋天乐、金海、元泽瑞、段景瀚</dc:creator>
  <cp:keywords>开题,方案草稿,待组内确认</cp:keywords>
  <dc:description>generated using python-pptx</dc:description>
  <cp:lastModifiedBy>a563</cp:lastModifiedBy>
  <cp:revision>3</cp:revision>
  <dcterms:created xsi:type="dcterms:W3CDTF">2013-01-27T09:14:16Z</dcterms:created>
  <dcterms:modified xsi:type="dcterms:W3CDTF">2026-10-08T11:34:23Z</dcterms:modified>
  <cp:category/>
</cp:coreProperties>
</file>